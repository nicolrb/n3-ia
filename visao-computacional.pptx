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image" Target="../media/image-5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image" Target="../media/image-7-3.png"/><Relationship Id="rId4" Type="http://schemas.openxmlformats.org/officeDocument/2006/relationships/image" Target="../media/image-7-4.png"/><Relationship Id="rId5" Type="http://schemas.openxmlformats.org/officeDocument/2006/relationships/image" Target="../media/image-7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21295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869680" y="-1188720"/>
            <a:ext cx="5029200" cy="5029200"/>
          </a:xfrm>
          <a:prstGeom prst="ellipse">
            <a:avLst/>
          </a:prstGeom>
          <a:solidFill>
            <a:srgbClr val="065A82">
              <a:alpha val="45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10241280" y="4206240"/>
            <a:ext cx="3108960" cy="3108960"/>
          </a:xfrm>
          <a:prstGeom prst="ellipse">
            <a:avLst/>
          </a:prstGeom>
          <a:solidFill>
            <a:srgbClr val="1C7293">
              <a:alpha val="45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822960" y="822960"/>
            <a:ext cx="914400" cy="914400"/>
          </a:xfrm>
          <a:prstGeom prst="ellipse">
            <a:avLst/>
          </a:prstGeom>
          <a:solidFill>
            <a:srgbClr val="065A82"/>
          </a:solidFill>
          <a:ln/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41832" y="941832"/>
            <a:ext cx="676656" cy="676656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822960" y="1965960"/>
            <a:ext cx="8686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9FB8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SEMINÁRIOS — APLICAÇÕES INTELIGENTES NO DIA A DIA</a:t>
            </a:r>
            <a:endParaRPr lang="en-US" sz="1300" dirty="0"/>
          </a:p>
        </p:txBody>
      </p:sp>
      <p:sp>
        <p:nvSpPr>
          <p:cNvPr id="7" name="Text 4"/>
          <p:cNvSpPr/>
          <p:nvPr/>
        </p:nvSpPr>
        <p:spPr>
          <a:xfrm>
            <a:off x="822960" y="2331720"/>
            <a:ext cx="96012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Visão Computacional</a:t>
            </a:r>
            <a:endParaRPr lang="en-US" sz="4800" dirty="0"/>
          </a:p>
        </p:txBody>
      </p:sp>
      <p:sp>
        <p:nvSpPr>
          <p:cNvPr id="8" name="Text 5"/>
          <p:cNvSpPr/>
          <p:nvPr/>
        </p:nvSpPr>
        <p:spPr>
          <a:xfrm>
            <a:off x="822960" y="3429000"/>
            <a:ext cx="8412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Fundamentos, técnicas e aplicações no contexto da Engenharia de Software</a:t>
            </a:r>
            <a:endParaRPr lang="en-US" sz="1800" dirty="0"/>
          </a:p>
        </p:txBody>
      </p:sp>
      <p:sp>
        <p:nvSpPr>
          <p:cNvPr id="9" name="Text 6"/>
          <p:cNvSpPr/>
          <p:nvPr/>
        </p:nvSpPr>
        <p:spPr>
          <a:xfrm>
            <a:off x="822960" y="539496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9FB8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Disciplina: 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Inteligência Artificial (N3)</a:t>
            </a:r>
            <a:endParaRPr lang="en-US" sz="1400" dirty="0"/>
          </a:p>
        </p:txBody>
      </p:sp>
      <p:sp>
        <p:nvSpPr>
          <p:cNvPr id="10" name="Text 7"/>
          <p:cNvSpPr/>
          <p:nvPr/>
        </p:nvSpPr>
        <p:spPr>
          <a:xfrm>
            <a:off x="822960" y="576072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9FB8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Professor: 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Claudinei Dias (Ney)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7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7315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Introdução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640080" y="1463040"/>
            <a:ext cx="603504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8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Visão Computacional é a subárea da IA que permite a sistemas </a:t>
            </a:r>
            <a:endParaRPr lang="en-US" sz="18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8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interpretar e compreender imagens e vídeos</a:t>
            </a:r>
            <a:endParaRPr lang="en-US" sz="18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8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 forma análoga à percepção humana.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640080" y="3017520"/>
            <a:ext cx="603504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8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GPUs poderosas, grandes bases de dados e redes neurais profundas </a:t>
            </a:r>
            <a:endParaRPr lang="en-US" sz="18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8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transformaram essa área</a:t>
            </a:r>
            <a:endParaRPr lang="en-US" sz="18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8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 uma das mais aplicadas da IA — de smartphones a diagnósticos médicos.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640080" y="4846320"/>
            <a:ext cx="6035040" cy="1234440"/>
          </a:xfrm>
          <a:prstGeom prst="roundRect">
            <a:avLst>
              <a:gd name="adj" fmla="val 5926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000000">
                <a:alpha val="10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914400" y="4983480"/>
            <a:ext cx="54864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Objetivo deste trabalho: 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aprofundar fundamentos teóricos, técnicas e ferramentas de Visão Computacional aplicadas à Engenharia de Software.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7589520" y="1463040"/>
            <a:ext cx="3931920" cy="3931920"/>
          </a:xfrm>
          <a:prstGeom prst="ellipse">
            <a:avLst/>
          </a:prstGeom>
          <a:solidFill>
            <a:srgbClr val="065A82">
              <a:alpha val="10000"/>
            </a:srgbClr>
          </a:solidFill>
          <a:ln/>
        </p:spPr>
      </p:sp>
      <p:sp>
        <p:nvSpPr>
          <p:cNvPr id="8" name="Shape 6"/>
          <p:cNvSpPr/>
          <p:nvPr/>
        </p:nvSpPr>
        <p:spPr>
          <a:xfrm>
            <a:off x="8001000" y="1874520"/>
            <a:ext cx="3108960" cy="3108960"/>
          </a:xfrm>
          <a:prstGeom prst="ellipse">
            <a:avLst/>
          </a:prstGeom>
          <a:solidFill>
            <a:srgbClr val="065A82">
              <a:alpha val="20000"/>
            </a:srgbClr>
          </a:solidFill>
          <a:ln/>
        </p:spPr>
      </p:sp>
      <p:sp>
        <p:nvSpPr>
          <p:cNvPr id="9" name="Shape 7"/>
          <p:cNvSpPr/>
          <p:nvPr/>
        </p:nvSpPr>
        <p:spPr>
          <a:xfrm>
            <a:off x="8641080" y="2514600"/>
            <a:ext cx="1828800" cy="1828800"/>
          </a:xfrm>
          <a:prstGeom prst="ellipse">
            <a:avLst/>
          </a:prstGeom>
          <a:solidFill>
            <a:srgbClr val="065A82"/>
          </a:solidFill>
          <a:ln/>
        </p:spPr>
      </p:sp>
      <p:pic>
        <p:nvPicPr>
          <p:cNvPr id="10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878824" y="2752344"/>
            <a:ext cx="1353312" cy="1353312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058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Como o computador "vê" uma imagem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640080" y="1143000"/>
            <a:ext cx="10515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Toda imagem digital é, para a máquina, uma matriz de números representando intensidade de cor.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822960" y="2011680"/>
            <a:ext cx="356616" cy="356616"/>
          </a:xfrm>
          <a:prstGeom prst="rect">
            <a:avLst/>
          </a:prstGeom>
          <a:solidFill>
            <a:srgbClr val="0B3D5C"/>
          </a:solidFill>
          <a:ln w="9525">
            <a:solidFill>
              <a:srgbClr val="FFFFFF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207008" y="2011680"/>
            <a:ext cx="356616" cy="356616"/>
          </a:xfrm>
          <a:prstGeom prst="rect">
            <a:avLst/>
          </a:prstGeom>
          <a:solidFill>
            <a:srgbClr val="0E4A6E"/>
          </a:solidFill>
          <a:ln w="9525">
            <a:solidFill>
              <a:srgbClr val="FFFFFF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591056" y="2011680"/>
            <a:ext cx="356616" cy="356616"/>
          </a:xfrm>
          <a:prstGeom prst="rect">
            <a:avLst/>
          </a:prstGeom>
          <a:solidFill>
            <a:srgbClr val="125A82"/>
          </a:solidFill>
          <a:ln w="9525">
            <a:solidFill>
              <a:srgbClr val="FFFFFF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975104" y="2011680"/>
            <a:ext cx="356616" cy="356616"/>
          </a:xfrm>
          <a:prstGeom prst="rect">
            <a:avLst/>
          </a:prstGeom>
          <a:solidFill>
            <a:srgbClr val="1C7293"/>
          </a:solidFill>
          <a:ln w="9525">
            <a:solidFill>
              <a:srgbClr val="FFFFFF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2359152" y="2011680"/>
            <a:ext cx="356616" cy="356616"/>
          </a:xfrm>
          <a:prstGeom prst="rect">
            <a:avLst/>
          </a:prstGeom>
          <a:solidFill>
            <a:srgbClr val="2C8AA3"/>
          </a:solidFill>
          <a:ln w="9525">
            <a:solidFill>
              <a:srgbClr val="FFFFFF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2743200" y="2011680"/>
            <a:ext cx="356616" cy="356616"/>
          </a:xfrm>
          <a:prstGeom prst="rect">
            <a:avLst/>
          </a:prstGeom>
          <a:solidFill>
            <a:srgbClr val="45A0B5"/>
          </a:solidFill>
          <a:ln w="9525">
            <a:solidFill>
              <a:srgbClr val="FFFFFF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3127248" y="2011680"/>
            <a:ext cx="356616" cy="356616"/>
          </a:xfrm>
          <a:prstGeom prst="rect">
            <a:avLst/>
          </a:prstGeom>
          <a:solidFill>
            <a:srgbClr val="0B3D5C"/>
          </a:solidFill>
          <a:ln w="9525">
            <a:solidFill>
              <a:srgbClr val="FFFFFF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3511296" y="2011680"/>
            <a:ext cx="356616" cy="356616"/>
          </a:xfrm>
          <a:prstGeom prst="rect">
            <a:avLst/>
          </a:prstGeom>
          <a:solidFill>
            <a:srgbClr val="0E4A6E"/>
          </a:solidFill>
          <a:ln w="9525">
            <a:solidFill>
              <a:srgbClr val="FFFFFF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3895344" y="2011680"/>
            <a:ext cx="356616" cy="356616"/>
          </a:xfrm>
          <a:prstGeom prst="rect">
            <a:avLst/>
          </a:prstGeom>
          <a:solidFill>
            <a:srgbClr val="125A82"/>
          </a:solidFill>
          <a:ln w="9525">
            <a:solidFill>
              <a:srgbClr val="FFFFFF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4279392" y="2011680"/>
            <a:ext cx="356616" cy="356616"/>
          </a:xfrm>
          <a:prstGeom prst="rect">
            <a:avLst/>
          </a:prstGeom>
          <a:solidFill>
            <a:srgbClr val="1C7293"/>
          </a:solidFill>
          <a:ln w="9525">
            <a:solidFill>
              <a:srgbClr val="FFFFFF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822960" y="2395728"/>
            <a:ext cx="356616" cy="356616"/>
          </a:xfrm>
          <a:prstGeom prst="rect">
            <a:avLst/>
          </a:prstGeom>
          <a:solidFill>
            <a:srgbClr val="0E4A6E"/>
          </a:solidFill>
          <a:ln w="9525">
            <a:solidFill>
              <a:srgbClr val="FFFFFF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1207008" y="2395728"/>
            <a:ext cx="356616" cy="356616"/>
          </a:xfrm>
          <a:prstGeom prst="rect">
            <a:avLst/>
          </a:prstGeom>
          <a:solidFill>
            <a:srgbClr val="125A82"/>
          </a:solidFill>
          <a:ln w="9525">
            <a:solidFill>
              <a:srgbClr val="FFFFFF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1591056" y="2395728"/>
            <a:ext cx="356616" cy="356616"/>
          </a:xfrm>
          <a:prstGeom prst="rect">
            <a:avLst/>
          </a:prstGeom>
          <a:solidFill>
            <a:srgbClr val="1C7293"/>
          </a:solidFill>
          <a:ln w="9525">
            <a:solidFill>
              <a:srgbClr val="FFFFFF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1975104" y="2395728"/>
            <a:ext cx="356616" cy="356616"/>
          </a:xfrm>
          <a:prstGeom prst="rect">
            <a:avLst/>
          </a:prstGeom>
          <a:solidFill>
            <a:srgbClr val="2C8AA3"/>
          </a:solidFill>
          <a:ln w="9525">
            <a:solidFill>
              <a:srgbClr val="FFFFFF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2359152" y="2395728"/>
            <a:ext cx="356616" cy="356616"/>
          </a:xfrm>
          <a:prstGeom prst="rect">
            <a:avLst/>
          </a:prstGeom>
          <a:solidFill>
            <a:srgbClr val="45A0B5"/>
          </a:solidFill>
          <a:ln w="9525">
            <a:solidFill>
              <a:srgbClr val="FFFFFF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2743200" y="2395728"/>
            <a:ext cx="356616" cy="356616"/>
          </a:xfrm>
          <a:prstGeom prst="rect">
            <a:avLst/>
          </a:prstGeom>
          <a:solidFill>
            <a:srgbClr val="0B3D5C"/>
          </a:solidFill>
          <a:ln w="9525">
            <a:solidFill>
              <a:srgbClr val="FFFFFF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3127248" y="2395728"/>
            <a:ext cx="356616" cy="356616"/>
          </a:xfrm>
          <a:prstGeom prst="rect">
            <a:avLst/>
          </a:prstGeom>
          <a:solidFill>
            <a:srgbClr val="0E4A6E"/>
          </a:solidFill>
          <a:ln w="9525">
            <a:solidFill>
              <a:srgbClr val="FFFFFF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3511296" y="2395728"/>
            <a:ext cx="356616" cy="356616"/>
          </a:xfrm>
          <a:prstGeom prst="rect">
            <a:avLst/>
          </a:prstGeom>
          <a:solidFill>
            <a:srgbClr val="125A82"/>
          </a:solidFill>
          <a:ln w="9525">
            <a:solidFill>
              <a:srgbClr val="FFFFFF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3895344" y="2395728"/>
            <a:ext cx="356616" cy="356616"/>
          </a:xfrm>
          <a:prstGeom prst="rect">
            <a:avLst/>
          </a:prstGeom>
          <a:solidFill>
            <a:srgbClr val="1C7293"/>
          </a:solidFill>
          <a:ln w="9525">
            <a:solidFill>
              <a:srgbClr val="FFFFFF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4279392" y="2395728"/>
            <a:ext cx="356616" cy="356616"/>
          </a:xfrm>
          <a:prstGeom prst="rect">
            <a:avLst/>
          </a:prstGeom>
          <a:solidFill>
            <a:srgbClr val="2C8AA3"/>
          </a:solidFill>
          <a:ln w="9525">
            <a:solidFill>
              <a:srgbClr val="FFFFFF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822960" y="2779776"/>
            <a:ext cx="356616" cy="356616"/>
          </a:xfrm>
          <a:prstGeom prst="rect">
            <a:avLst/>
          </a:prstGeom>
          <a:solidFill>
            <a:srgbClr val="125A82"/>
          </a:solidFill>
          <a:ln w="9525">
            <a:solidFill>
              <a:srgbClr val="FFFFFF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1207008" y="2779776"/>
            <a:ext cx="356616" cy="356616"/>
          </a:xfrm>
          <a:prstGeom prst="rect">
            <a:avLst/>
          </a:prstGeom>
          <a:solidFill>
            <a:srgbClr val="1C7293"/>
          </a:solidFill>
          <a:ln w="9525">
            <a:solidFill>
              <a:srgbClr val="FFFFFF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1591056" y="2779776"/>
            <a:ext cx="356616" cy="356616"/>
          </a:xfrm>
          <a:prstGeom prst="rect">
            <a:avLst/>
          </a:prstGeom>
          <a:solidFill>
            <a:srgbClr val="2C8AA3"/>
          </a:solidFill>
          <a:ln w="9525">
            <a:solidFill>
              <a:srgbClr val="FFFFFF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1975104" y="2779776"/>
            <a:ext cx="356616" cy="356616"/>
          </a:xfrm>
          <a:prstGeom prst="rect">
            <a:avLst/>
          </a:prstGeom>
          <a:solidFill>
            <a:srgbClr val="45A0B5"/>
          </a:solidFill>
          <a:ln w="9525">
            <a:solidFill>
              <a:srgbClr val="FFFFFF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2359152" y="2779776"/>
            <a:ext cx="356616" cy="356616"/>
          </a:xfrm>
          <a:prstGeom prst="rect">
            <a:avLst/>
          </a:prstGeom>
          <a:solidFill>
            <a:srgbClr val="0B3D5C"/>
          </a:solidFill>
          <a:ln w="9525">
            <a:solidFill>
              <a:srgbClr val="FFFFFF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2743200" y="2779776"/>
            <a:ext cx="356616" cy="356616"/>
          </a:xfrm>
          <a:prstGeom prst="rect">
            <a:avLst/>
          </a:prstGeom>
          <a:solidFill>
            <a:srgbClr val="0E4A6E"/>
          </a:solidFill>
          <a:ln w="9525">
            <a:solidFill>
              <a:srgbClr val="FFFFFF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3127248" y="2779776"/>
            <a:ext cx="356616" cy="356616"/>
          </a:xfrm>
          <a:prstGeom prst="rect">
            <a:avLst/>
          </a:prstGeom>
          <a:solidFill>
            <a:srgbClr val="125A82"/>
          </a:solidFill>
          <a:ln w="9525">
            <a:solidFill>
              <a:srgbClr val="FFFFFF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3511296" y="2779776"/>
            <a:ext cx="356616" cy="356616"/>
          </a:xfrm>
          <a:prstGeom prst="rect">
            <a:avLst/>
          </a:prstGeom>
          <a:solidFill>
            <a:srgbClr val="1C7293"/>
          </a:solidFill>
          <a:ln w="9525">
            <a:solidFill>
              <a:srgbClr val="FFFFFF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3895344" y="2779776"/>
            <a:ext cx="356616" cy="356616"/>
          </a:xfrm>
          <a:prstGeom prst="rect">
            <a:avLst/>
          </a:prstGeom>
          <a:solidFill>
            <a:srgbClr val="2C8AA3"/>
          </a:solidFill>
          <a:ln w="9525">
            <a:solidFill>
              <a:srgbClr val="FFFFFF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4279392" y="2779776"/>
            <a:ext cx="356616" cy="356616"/>
          </a:xfrm>
          <a:prstGeom prst="rect">
            <a:avLst/>
          </a:prstGeom>
          <a:solidFill>
            <a:srgbClr val="45A0B5"/>
          </a:solidFill>
          <a:ln w="9525">
            <a:solidFill>
              <a:srgbClr val="FFFFFF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822960" y="3163824"/>
            <a:ext cx="356616" cy="356616"/>
          </a:xfrm>
          <a:prstGeom prst="rect">
            <a:avLst/>
          </a:prstGeom>
          <a:solidFill>
            <a:srgbClr val="1C7293"/>
          </a:solidFill>
          <a:ln w="9525">
            <a:solidFill>
              <a:srgbClr val="FFFFFF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1207008" y="3163824"/>
            <a:ext cx="356616" cy="356616"/>
          </a:xfrm>
          <a:prstGeom prst="rect">
            <a:avLst/>
          </a:prstGeom>
          <a:solidFill>
            <a:srgbClr val="2C8AA3"/>
          </a:solidFill>
          <a:ln w="9525">
            <a:solidFill>
              <a:srgbClr val="FFFFFF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1591056" y="3163824"/>
            <a:ext cx="356616" cy="356616"/>
          </a:xfrm>
          <a:prstGeom prst="rect">
            <a:avLst/>
          </a:prstGeom>
          <a:solidFill>
            <a:srgbClr val="45A0B5"/>
          </a:solidFill>
          <a:ln w="9525">
            <a:solidFill>
              <a:srgbClr val="FFFFFF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1975104" y="3163824"/>
            <a:ext cx="356616" cy="356616"/>
          </a:xfrm>
          <a:prstGeom prst="rect">
            <a:avLst/>
          </a:prstGeom>
          <a:solidFill>
            <a:srgbClr val="0B3D5C"/>
          </a:solidFill>
          <a:ln w="9525">
            <a:solidFill>
              <a:srgbClr val="FFFFFF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2359152" y="3163824"/>
            <a:ext cx="356616" cy="356616"/>
          </a:xfrm>
          <a:prstGeom prst="rect">
            <a:avLst/>
          </a:prstGeom>
          <a:solidFill>
            <a:srgbClr val="0E4A6E"/>
          </a:solidFill>
          <a:ln w="9525">
            <a:solidFill>
              <a:srgbClr val="FFFFFF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2743200" y="3163824"/>
            <a:ext cx="356616" cy="356616"/>
          </a:xfrm>
          <a:prstGeom prst="rect">
            <a:avLst/>
          </a:prstGeom>
          <a:solidFill>
            <a:srgbClr val="125A82"/>
          </a:solidFill>
          <a:ln w="9525">
            <a:solidFill>
              <a:srgbClr val="FFFFFF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3127248" y="3163824"/>
            <a:ext cx="356616" cy="356616"/>
          </a:xfrm>
          <a:prstGeom prst="rect">
            <a:avLst/>
          </a:prstGeom>
          <a:solidFill>
            <a:srgbClr val="1C7293"/>
          </a:solidFill>
          <a:ln w="9525">
            <a:solidFill>
              <a:srgbClr val="FFFFFF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3511296" y="3163824"/>
            <a:ext cx="356616" cy="356616"/>
          </a:xfrm>
          <a:prstGeom prst="rect">
            <a:avLst/>
          </a:prstGeom>
          <a:solidFill>
            <a:srgbClr val="2C8AA3"/>
          </a:solidFill>
          <a:ln w="9525">
            <a:solidFill>
              <a:srgbClr val="FFFFFF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3895344" y="3163824"/>
            <a:ext cx="356616" cy="356616"/>
          </a:xfrm>
          <a:prstGeom prst="rect">
            <a:avLst/>
          </a:prstGeom>
          <a:solidFill>
            <a:srgbClr val="45A0B5"/>
          </a:solidFill>
          <a:ln w="9525">
            <a:solidFill>
              <a:srgbClr val="FFFFFF"/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4279392" y="3163824"/>
            <a:ext cx="356616" cy="356616"/>
          </a:xfrm>
          <a:prstGeom prst="rect">
            <a:avLst/>
          </a:prstGeom>
          <a:solidFill>
            <a:srgbClr val="0B3D5C"/>
          </a:solidFill>
          <a:ln w="9525">
            <a:solidFill>
              <a:srgbClr val="FFFFFF"/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>
            <a:off x="822960" y="3547872"/>
            <a:ext cx="356616" cy="356616"/>
          </a:xfrm>
          <a:prstGeom prst="rect">
            <a:avLst/>
          </a:prstGeom>
          <a:solidFill>
            <a:srgbClr val="2C8AA3"/>
          </a:solidFill>
          <a:ln w="9525">
            <a:solidFill>
              <a:srgbClr val="FFFFFF"/>
            </a:solidFill>
            <a:prstDash val="solid"/>
          </a:ln>
        </p:spPr>
      </p:sp>
      <p:sp>
        <p:nvSpPr>
          <p:cNvPr id="45" name="Shape 43"/>
          <p:cNvSpPr/>
          <p:nvPr/>
        </p:nvSpPr>
        <p:spPr>
          <a:xfrm>
            <a:off x="1207008" y="3547872"/>
            <a:ext cx="356616" cy="356616"/>
          </a:xfrm>
          <a:prstGeom prst="rect">
            <a:avLst/>
          </a:prstGeom>
          <a:solidFill>
            <a:srgbClr val="45A0B5"/>
          </a:solidFill>
          <a:ln w="9525">
            <a:solidFill>
              <a:srgbClr val="FFFFFF"/>
            </a:solidFill>
            <a:prstDash val="solid"/>
          </a:ln>
        </p:spPr>
      </p:sp>
      <p:sp>
        <p:nvSpPr>
          <p:cNvPr id="46" name="Shape 44"/>
          <p:cNvSpPr/>
          <p:nvPr/>
        </p:nvSpPr>
        <p:spPr>
          <a:xfrm>
            <a:off x="1591056" y="3547872"/>
            <a:ext cx="356616" cy="356616"/>
          </a:xfrm>
          <a:prstGeom prst="rect">
            <a:avLst/>
          </a:prstGeom>
          <a:solidFill>
            <a:srgbClr val="0B3D5C"/>
          </a:solidFill>
          <a:ln w="9525">
            <a:solidFill>
              <a:srgbClr val="FFFFFF"/>
            </a:solidFill>
            <a:prstDash val="solid"/>
          </a:ln>
        </p:spPr>
      </p:sp>
      <p:sp>
        <p:nvSpPr>
          <p:cNvPr id="47" name="Shape 45"/>
          <p:cNvSpPr/>
          <p:nvPr/>
        </p:nvSpPr>
        <p:spPr>
          <a:xfrm>
            <a:off x="1975104" y="3547872"/>
            <a:ext cx="356616" cy="356616"/>
          </a:xfrm>
          <a:prstGeom prst="rect">
            <a:avLst/>
          </a:prstGeom>
          <a:solidFill>
            <a:srgbClr val="0E4A6E"/>
          </a:solidFill>
          <a:ln w="9525">
            <a:solidFill>
              <a:srgbClr val="FFFFFF"/>
            </a:solidFill>
            <a:prstDash val="solid"/>
          </a:ln>
        </p:spPr>
      </p:sp>
      <p:sp>
        <p:nvSpPr>
          <p:cNvPr id="48" name="Shape 46"/>
          <p:cNvSpPr/>
          <p:nvPr/>
        </p:nvSpPr>
        <p:spPr>
          <a:xfrm>
            <a:off x="2359152" y="3547872"/>
            <a:ext cx="356616" cy="356616"/>
          </a:xfrm>
          <a:prstGeom prst="rect">
            <a:avLst/>
          </a:prstGeom>
          <a:solidFill>
            <a:srgbClr val="125A82"/>
          </a:solidFill>
          <a:ln w="9525">
            <a:solidFill>
              <a:srgbClr val="FFFFFF"/>
            </a:solidFill>
            <a:prstDash val="solid"/>
          </a:ln>
        </p:spPr>
      </p:sp>
      <p:sp>
        <p:nvSpPr>
          <p:cNvPr id="49" name="Shape 47"/>
          <p:cNvSpPr/>
          <p:nvPr/>
        </p:nvSpPr>
        <p:spPr>
          <a:xfrm>
            <a:off x="2743200" y="3547872"/>
            <a:ext cx="356616" cy="356616"/>
          </a:xfrm>
          <a:prstGeom prst="rect">
            <a:avLst/>
          </a:prstGeom>
          <a:solidFill>
            <a:srgbClr val="1C7293"/>
          </a:solidFill>
          <a:ln w="9525">
            <a:solidFill>
              <a:srgbClr val="FFFFFF"/>
            </a:solidFill>
            <a:prstDash val="solid"/>
          </a:ln>
        </p:spPr>
      </p:sp>
      <p:sp>
        <p:nvSpPr>
          <p:cNvPr id="50" name="Shape 48"/>
          <p:cNvSpPr/>
          <p:nvPr/>
        </p:nvSpPr>
        <p:spPr>
          <a:xfrm>
            <a:off x="3127248" y="3547872"/>
            <a:ext cx="356616" cy="356616"/>
          </a:xfrm>
          <a:prstGeom prst="rect">
            <a:avLst/>
          </a:prstGeom>
          <a:solidFill>
            <a:srgbClr val="2C8AA3"/>
          </a:solidFill>
          <a:ln w="9525">
            <a:solidFill>
              <a:srgbClr val="FFFFFF"/>
            </a:solidFill>
            <a:prstDash val="solid"/>
          </a:ln>
        </p:spPr>
      </p:sp>
      <p:sp>
        <p:nvSpPr>
          <p:cNvPr id="51" name="Shape 49"/>
          <p:cNvSpPr/>
          <p:nvPr/>
        </p:nvSpPr>
        <p:spPr>
          <a:xfrm>
            <a:off x="3511296" y="3547872"/>
            <a:ext cx="356616" cy="356616"/>
          </a:xfrm>
          <a:prstGeom prst="rect">
            <a:avLst/>
          </a:prstGeom>
          <a:solidFill>
            <a:srgbClr val="45A0B5"/>
          </a:solidFill>
          <a:ln w="9525">
            <a:solidFill>
              <a:srgbClr val="FFFFFF"/>
            </a:solidFill>
            <a:prstDash val="solid"/>
          </a:ln>
        </p:spPr>
      </p:sp>
      <p:sp>
        <p:nvSpPr>
          <p:cNvPr id="52" name="Shape 50"/>
          <p:cNvSpPr/>
          <p:nvPr/>
        </p:nvSpPr>
        <p:spPr>
          <a:xfrm>
            <a:off x="3895344" y="3547872"/>
            <a:ext cx="356616" cy="356616"/>
          </a:xfrm>
          <a:prstGeom prst="rect">
            <a:avLst/>
          </a:prstGeom>
          <a:solidFill>
            <a:srgbClr val="0B3D5C"/>
          </a:solidFill>
          <a:ln w="9525">
            <a:solidFill>
              <a:srgbClr val="FFFFFF"/>
            </a:solidFill>
            <a:prstDash val="solid"/>
          </a:ln>
        </p:spPr>
      </p:sp>
      <p:sp>
        <p:nvSpPr>
          <p:cNvPr id="53" name="Shape 51"/>
          <p:cNvSpPr/>
          <p:nvPr/>
        </p:nvSpPr>
        <p:spPr>
          <a:xfrm>
            <a:off x="4279392" y="3547872"/>
            <a:ext cx="356616" cy="356616"/>
          </a:xfrm>
          <a:prstGeom prst="rect">
            <a:avLst/>
          </a:prstGeom>
          <a:solidFill>
            <a:srgbClr val="0E4A6E"/>
          </a:solidFill>
          <a:ln w="9525">
            <a:solidFill>
              <a:srgbClr val="FFFFFF"/>
            </a:solidFill>
            <a:prstDash val="solid"/>
          </a:ln>
        </p:spPr>
      </p:sp>
      <p:sp>
        <p:nvSpPr>
          <p:cNvPr id="54" name="Shape 52"/>
          <p:cNvSpPr/>
          <p:nvPr/>
        </p:nvSpPr>
        <p:spPr>
          <a:xfrm>
            <a:off x="822960" y="3931920"/>
            <a:ext cx="356616" cy="356616"/>
          </a:xfrm>
          <a:prstGeom prst="rect">
            <a:avLst/>
          </a:prstGeom>
          <a:solidFill>
            <a:srgbClr val="45A0B5"/>
          </a:solidFill>
          <a:ln w="9525">
            <a:solidFill>
              <a:srgbClr val="FFFFFF"/>
            </a:solidFill>
            <a:prstDash val="solid"/>
          </a:ln>
        </p:spPr>
      </p:sp>
      <p:sp>
        <p:nvSpPr>
          <p:cNvPr id="55" name="Shape 53"/>
          <p:cNvSpPr/>
          <p:nvPr/>
        </p:nvSpPr>
        <p:spPr>
          <a:xfrm>
            <a:off x="1207008" y="3931920"/>
            <a:ext cx="356616" cy="356616"/>
          </a:xfrm>
          <a:prstGeom prst="rect">
            <a:avLst/>
          </a:prstGeom>
          <a:solidFill>
            <a:srgbClr val="0B3D5C"/>
          </a:solidFill>
          <a:ln w="9525">
            <a:solidFill>
              <a:srgbClr val="FFFFFF"/>
            </a:solidFill>
            <a:prstDash val="solid"/>
          </a:ln>
        </p:spPr>
      </p:sp>
      <p:sp>
        <p:nvSpPr>
          <p:cNvPr id="56" name="Shape 54"/>
          <p:cNvSpPr/>
          <p:nvPr/>
        </p:nvSpPr>
        <p:spPr>
          <a:xfrm>
            <a:off x="1591056" y="3931920"/>
            <a:ext cx="356616" cy="356616"/>
          </a:xfrm>
          <a:prstGeom prst="rect">
            <a:avLst/>
          </a:prstGeom>
          <a:solidFill>
            <a:srgbClr val="0E4A6E"/>
          </a:solidFill>
          <a:ln w="9525">
            <a:solidFill>
              <a:srgbClr val="FFFFFF"/>
            </a:solidFill>
            <a:prstDash val="solid"/>
          </a:ln>
        </p:spPr>
      </p:sp>
      <p:sp>
        <p:nvSpPr>
          <p:cNvPr id="57" name="Shape 55"/>
          <p:cNvSpPr/>
          <p:nvPr/>
        </p:nvSpPr>
        <p:spPr>
          <a:xfrm>
            <a:off x="1975104" y="3931920"/>
            <a:ext cx="356616" cy="356616"/>
          </a:xfrm>
          <a:prstGeom prst="rect">
            <a:avLst/>
          </a:prstGeom>
          <a:solidFill>
            <a:srgbClr val="125A82"/>
          </a:solidFill>
          <a:ln w="9525">
            <a:solidFill>
              <a:srgbClr val="FFFFFF"/>
            </a:solidFill>
            <a:prstDash val="solid"/>
          </a:ln>
        </p:spPr>
      </p:sp>
      <p:sp>
        <p:nvSpPr>
          <p:cNvPr id="58" name="Shape 56"/>
          <p:cNvSpPr/>
          <p:nvPr/>
        </p:nvSpPr>
        <p:spPr>
          <a:xfrm>
            <a:off x="2359152" y="3931920"/>
            <a:ext cx="356616" cy="356616"/>
          </a:xfrm>
          <a:prstGeom prst="rect">
            <a:avLst/>
          </a:prstGeom>
          <a:solidFill>
            <a:srgbClr val="1C7293"/>
          </a:solidFill>
          <a:ln w="9525">
            <a:solidFill>
              <a:srgbClr val="FFFFFF"/>
            </a:solidFill>
            <a:prstDash val="solid"/>
          </a:ln>
        </p:spPr>
      </p:sp>
      <p:sp>
        <p:nvSpPr>
          <p:cNvPr id="59" name="Shape 57"/>
          <p:cNvSpPr/>
          <p:nvPr/>
        </p:nvSpPr>
        <p:spPr>
          <a:xfrm>
            <a:off x="2743200" y="3931920"/>
            <a:ext cx="356616" cy="356616"/>
          </a:xfrm>
          <a:prstGeom prst="rect">
            <a:avLst/>
          </a:prstGeom>
          <a:solidFill>
            <a:srgbClr val="2C8AA3"/>
          </a:solidFill>
          <a:ln w="9525">
            <a:solidFill>
              <a:srgbClr val="FFFFFF"/>
            </a:solidFill>
            <a:prstDash val="solid"/>
          </a:ln>
        </p:spPr>
      </p:sp>
      <p:sp>
        <p:nvSpPr>
          <p:cNvPr id="60" name="Shape 58"/>
          <p:cNvSpPr/>
          <p:nvPr/>
        </p:nvSpPr>
        <p:spPr>
          <a:xfrm>
            <a:off x="3127248" y="3931920"/>
            <a:ext cx="356616" cy="356616"/>
          </a:xfrm>
          <a:prstGeom prst="rect">
            <a:avLst/>
          </a:prstGeom>
          <a:solidFill>
            <a:srgbClr val="45A0B5"/>
          </a:solidFill>
          <a:ln w="9525">
            <a:solidFill>
              <a:srgbClr val="FFFFFF"/>
            </a:solidFill>
            <a:prstDash val="solid"/>
          </a:ln>
        </p:spPr>
      </p:sp>
      <p:sp>
        <p:nvSpPr>
          <p:cNvPr id="61" name="Shape 59"/>
          <p:cNvSpPr/>
          <p:nvPr/>
        </p:nvSpPr>
        <p:spPr>
          <a:xfrm>
            <a:off x="3511296" y="3931920"/>
            <a:ext cx="356616" cy="356616"/>
          </a:xfrm>
          <a:prstGeom prst="rect">
            <a:avLst/>
          </a:prstGeom>
          <a:solidFill>
            <a:srgbClr val="0B3D5C"/>
          </a:solidFill>
          <a:ln w="9525">
            <a:solidFill>
              <a:srgbClr val="FFFFFF"/>
            </a:solidFill>
            <a:prstDash val="solid"/>
          </a:ln>
        </p:spPr>
      </p:sp>
      <p:sp>
        <p:nvSpPr>
          <p:cNvPr id="62" name="Shape 60"/>
          <p:cNvSpPr/>
          <p:nvPr/>
        </p:nvSpPr>
        <p:spPr>
          <a:xfrm>
            <a:off x="3895344" y="3931920"/>
            <a:ext cx="356616" cy="356616"/>
          </a:xfrm>
          <a:prstGeom prst="rect">
            <a:avLst/>
          </a:prstGeom>
          <a:solidFill>
            <a:srgbClr val="0E4A6E"/>
          </a:solidFill>
          <a:ln w="9525">
            <a:solidFill>
              <a:srgbClr val="FFFFFF"/>
            </a:solidFill>
            <a:prstDash val="solid"/>
          </a:ln>
        </p:spPr>
      </p:sp>
      <p:sp>
        <p:nvSpPr>
          <p:cNvPr id="63" name="Shape 61"/>
          <p:cNvSpPr/>
          <p:nvPr/>
        </p:nvSpPr>
        <p:spPr>
          <a:xfrm>
            <a:off x="4279392" y="3931920"/>
            <a:ext cx="356616" cy="356616"/>
          </a:xfrm>
          <a:prstGeom prst="rect">
            <a:avLst/>
          </a:prstGeom>
          <a:solidFill>
            <a:srgbClr val="125A82"/>
          </a:solidFill>
          <a:ln w="9525">
            <a:solidFill>
              <a:srgbClr val="FFFFFF"/>
            </a:solidFill>
            <a:prstDash val="solid"/>
          </a:ln>
        </p:spPr>
      </p:sp>
      <p:sp>
        <p:nvSpPr>
          <p:cNvPr id="64" name="Shape 62"/>
          <p:cNvSpPr/>
          <p:nvPr/>
        </p:nvSpPr>
        <p:spPr>
          <a:xfrm>
            <a:off x="822960" y="4315968"/>
            <a:ext cx="356616" cy="356616"/>
          </a:xfrm>
          <a:prstGeom prst="rect">
            <a:avLst/>
          </a:prstGeom>
          <a:solidFill>
            <a:srgbClr val="0B3D5C"/>
          </a:solidFill>
          <a:ln w="9525">
            <a:solidFill>
              <a:srgbClr val="FFFFFF"/>
            </a:solidFill>
            <a:prstDash val="solid"/>
          </a:ln>
        </p:spPr>
      </p:sp>
      <p:sp>
        <p:nvSpPr>
          <p:cNvPr id="65" name="Shape 63"/>
          <p:cNvSpPr/>
          <p:nvPr/>
        </p:nvSpPr>
        <p:spPr>
          <a:xfrm>
            <a:off x="1207008" y="4315968"/>
            <a:ext cx="356616" cy="356616"/>
          </a:xfrm>
          <a:prstGeom prst="rect">
            <a:avLst/>
          </a:prstGeom>
          <a:solidFill>
            <a:srgbClr val="0E4A6E"/>
          </a:solidFill>
          <a:ln w="9525">
            <a:solidFill>
              <a:srgbClr val="FFFFFF"/>
            </a:solidFill>
            <a:prstDash val="solid"/>
          </a:ln>
        </p:spPr>
      </p:sp>
      <p:sp>
        <p:nvSpPr>
          <p:cNvPr id="66" name="Shape 64"/>
          <p:cNvSpPr/>
          <p:nvPr/>
        </p:nvSpPr>
        <p:spPr>
          <a:xfrm>
            <a:off x="1591056" y="4315968"/>
            <a:ext cx="356616" cy="356616"/>
          </a:xfrm>
          <a:prstGeom prst="rect">
            <a:avLst/>
          </a:prstGeom>
          <a:solidFill>
            <a:srgbClr val="125A82"/>
          </a:solidFill>
          <a:ln w="9525">
            <a:solidFill>
              <a:srgbClr val="FFFFFF"/>
            </a:solidFill>
            <a:prstDash val="solid"/>
          </a:ln>
        </p:spPr>
      </p:sp>
      <p:sp>
        <p:nvSpPr>
          <p:cNvPr id="67" name="Shape 65"/>
          <p:cNvSpPr/>
          <p:nvPr/>
        </p:nvSpPr>
        <p:spPr>
          <a:xfrm>
            <a:off x="1975104" y="4315968"/>
            <a:ext cx="356616" cy="356616"/>
          </a:xfrm>
          <a:prstGeom prst="rect">
            <a:avLst/>
          </a:prstGeom>
          <a:solidFill>
            <a:srgbClr val="1C7293"/>
          </a:solidFill>
          <a:ln w="9525">
            <a:solidFill>
              <a:srgbClr val="FFFFFF"/>
            </a:solidFill>
            <a:prstDash val="solid"/>
          </a:ln>
        </p:spPr>
      </p:sp>
      <p:sp>
        <p:nvSpPr>
          <p:cNvPr id="68" name="Shape 66"/>
          <p:cNvSpPr/>
          <p:nvPr/>
        </p:nvSpPr>
        <p:spPr>
          <a:xfrm>
            <a:off x="2359152" y="4315968"/>
            <a:ext cx="356616" cy="356616"/>
          </a:xfrm>
          <a:prstGeom prst="rect">
            <a:avLst/>
          </a:prstGeom>
          <a:solidFill>
            <a:srgbClr val="2C8AA3"/>
          </a:solidFill>
          <a:ln w="9525">
            <a:solidFill>
              <a:srgbClr val="FFFFFF"/>
            </a:solidFill>
            <a:prstDash val="solid"/>
          </a:ln>
        </p:spPr>
      </p:sp>
      <p:sp>
        <p:nvSpPr>
          <p:cNvPr id="69" name="Shape 67"/>
          <p:cNvSpPr/>
          <p:nvPr/>
        </p:nvSpPr>
        <p:spPr>
          <a:xfrm>
            <a:off x="2743200" y="4315968"/>
            <a:ext cx="356616" cy="356616"/>
          </a:xfrm>
          <a:prstGeom prst="rect">
            <a:avLst/>
          </a:prstGeom>
          <a:solidFill>
            <a:srgbClr val="45A0B5"/>
          </a:solidFill>
          <a:ln w="9525">
            <a:solidFill>
              <a:srgbClr val="FFFFFF"/>
            </a:solidFill>
            <a:prstDash val="solid"/>
          </a:ln>
        </p:spPr>
      </p:sp>
      <p:sp>
        <p:nvSpPr>
          <p:cNvPr id="70" name="Shape 68"/>
          <p:cNvSpPr/>
          <p:nvPr/>
        </p:nvSpPr>
        <p:spPr>
          <a:xfrm>
            <a:off x="3127248" y="4315968"/>
            <a:ext cx="356616" cy="356616"/>
          </a:xfrm>
          <a:prstGeom prst="rect">
            <a:avLst/>
          </a:prstGeom>
          <a:solidFill>
            <a:srgbClr val="0B3D5C"/>
          </a:solidFill>
          <a:ln w="9525">
            <a:solidFill>
              <a:srgbClr val="FFFFFF"/>
            </a:solidFill>
            <a:prstDash val="solid"/>
          </a:ln>
        </p:spPr>
      </p:sp>
      <p:sp>
        <p:nvSpPr>
          <p:cNvPr id="71" name="Shape 69"/>
          <p:cNvSpPr/>
          <p:nvPr/>
        </p:nvSpPr>
        <p:spPr>
          <a:xfrm>
            <a:off x="3511296" y="4315968"/>
            <a:ext cx="356616" cy="356616"/>
          </a:xfrm>
          <a:prstGeom prst="rect">
            <a:avLst/>
          </a:prstGeom>
          <a:solidFill>
            <a:srgbClr val="0E4A6E"/>
          </a:solidFill>
          <a:ln w="9525">
            <a:solidFill>
              <a:srgbClr val="FFFFFF"/>
            </a:solidFill>
            <a:prstDash val="solid"/>
          </a:ln>
        </p:spPr>
      </p:sp>
      <p:sp>
        <p:nvSpPr>
          <p:cNvPr id="72" name="Shape 70"/>
          <p:cNvSpPr/>
          <p:nvPr/>
        </p:nvSpPr>
        <p:spPr>
          <a:xfrm>
            <a:off x="3895344" y="4315968"/>
            <a:ext cx="356616" cy="356616"/>
          </a:xfrm>
          <a:prstGeom prst="rect">
            <a:avLst/>
          </a:prstGeom>
          <a:solidFill>
            <a:srgbClr val="125A82"/>
          </a:solidFill>
          <a:ln w="9525">
            <a:solidFill>
              <a:srgbClr val="FFFFFF"/>
            </a:solidFill>
            <a:prstDash val="solid"/>
          </a:ln>
        </p:spPr>
      </p:sp>
      <p:sp>
        <p:nvSpPr>
          <p:cNvPr id="73" name="Shape 71"/>
          <p:cNvSpPr/>
          <p:nvPr/>
        </p:nvSpPr>
        <p:spPr>
          <a:xfrm>
            <a:off x="4279392" y="4315968"/>
            <a:ext cx="356616" cy="356616"/>
          </a:xfrm>
          <a:prstGeom prst="rect">
            <a:avLst/>
          </a:prstGeom>
          <a:solidFill>
            <a:srgbClr val="1C7293"/>
          </a:solidFill>
          <a:ln w="9525">
            <a:solidFill>
              <a:srgbClr val="FFFFFF"/>
            </a:solidFill>
            <a:prstDash val="solid"/>
          </a:ln>
        </p:spPr>
      </p:sp>
      <p:sp>
        <p:nvSpPr>
          <p:cNvPr id="74" name="Shape 72"/>
          <p:cNvSpPr/>
          <p:nvPr/>
        </p:nvSpPr>
        <p:spPr>
          <a:xfrm>
            <a:off x="822960" y="4700016"/>
            <a:ext cx="356616" cy="356616"/>
          </a:xfrm>
          <a:prstGeom prst="rect">
            <a:avLst/>
          </a:prstGeom>
          <a:solidFill>
            <a:srgbClr val="0E4A6E"/>
          </a:solidFill>
          <a:ln w="9525">
            <a:solidFill>
              <a:srgbClr val="FFFFFF"/>
            </a:solidFill>
            <a:prstDash val="solid"/>
          </a:ln>
        </p:spPr>
      </p:sp>
      <p:sp>
        <p:nvSpPr>
          <p:cNvPr id="75" name="Shape 73"/>
          <p:cNvSpPr/>
          <p:nvPr/>
        </p:nvSpPr>
        <p:spPr>
          <a:xfrm>
            <a:off x="1207008" y="4700016"/>
            <a:ext cx="356616" cy="356616"/>
          </a:xfrm>
          <a:prstGeom prst="rect">
            <a:avLst/>
          </a:prstGeom>
          <a:solidFill>
            <a:srgbClr val="125A82"/>
          </a:solidFill>
          <a:ln w="9525">
            <a:solidFill>
              <a:srgbClr val="FFFFFF"/>
            </a:solidFill>
            <a:prstDash val="solid"/>
          </a:ln>
        </p:spPr>
      </p:sp>
      <p:sp>
        <p:nvSpPr>
          <p:cNvPr id="76" name="Shape 74"/>
          <p:cNvSpPr/>
          <p:nvPr/>
        </p:nvSpPr>
        <p:spPr>
          <a:xfrm>
            <a:off x="1591056" y="4700016"/>
            <a:ext cx="356616" cy="356616"/>
          </a:xfrm>
          <a:prstGeom prst="rect">
            <a:avLst/>
          </a:prstGeom>
          <a:solidFill>
            <a:srgbClr val="1C7293"/>
          </a:solidFill>
          <a:ln w="9525">
            <a:solidFill>
              <a:srgbClr val="FFFFFF"/>
            </a:solidFill>
            <a:prstDash val="solid"/>
          </a:ln>
        </p:spPr>
      </p:sp>
      <p:sp>
        <p:nvSpPr>
          <p:cNvPr id="77" name="Shape 75"/>
          <p:cNvSpPr/>
          <p:nvPr/>
        </p:nvSpPr>
        <p:spPr>
          <a:xfrm>
            <a:off x="1975104" y="4700016"/>
            <a:ext cx="356616" cy="356616"/>
          </a:xfrm>
          <a:prstGeom prst="rect">
            <a:avLst/>
          </a:prstGeom>
          <a:solidFill>
            <a:srgbClr val="2C8AA3"/>
          </a:solidFill>
          <a:ln w="9525">
            <a:solidFill>
              <a:srgbClr val="FFFFFF"/>
            </a:solidFill>
            <a:prstDash val="solid"/>
          </a:ln>
        </p:spPr>
      </p:sp>
      <p:sp>
        <p:nvSpPr>
          <p:cNvPr id="78" name="Shape 76"/>
          <p:cNvSpPr/>
          <p:nvPr/>
        </p:nvSpPr>
        <p:spPr>
          <a:xfrm>
            <a:off x="2359152" y="4700016"/>
            <a:ext cx="356616" cy="356616"/>
          </a:xfrm>
          <a:prstGeom prst="rect">
            <a:avLst/>
          </a:prstGeom>
          <a:solidFill>
            <a:srgbClr val="45A0B5"/>
          </a:solidFill>
          <a:ln w="9525">
            <a:solidFill>
              <a:srgbClr val="FFFFFF"/>
            </a:solidFill>
            <a:prstDash val="solid"/>
          </a:ln>
        </p:spPr>
      </p:sp>
      <p:sp>
        <p:nvSpPr>
          <p:cNvPr id="79" name="Shape 77"/>
          <p:cNvSpPr/>
          <p:nvPr/>
        </p:nvSpPr>
        <p:spPr>
          <a:xfrm>
            <a:off x="2743200" y="4700016"/>
            <a:ext cx="356616" cy="356616"/>
          </a:xfrm>
          <a:prstGeom prst="rect">
            <a:avLst/>
          </a:prstGeom>
          <a:solidFill>
            <a:srgbClr val="0B3D5C"/>
          </a:solidFill>
          <a:ln w="9525">
            <a:solidFill>
              <a:srgbClr val="FFFFFF"/>
            </a:solidFill>
            <a:prstDash val="solid"/>
          </a:ln>
        </p:spPr>
      </p:sp>
      <p:sp>
        <p:nvSpPr>
          <p:cNvPr id="80" name="Shape 78"/>
          <p:cNvSpPr/>
          <p:nvPr/>
        </p:nvSpPr>
        <p:spPr>
          <a:xfrm>
            <a:off x="3127248" y="4700016"/>
            <a:ext cx="356616" cy="356616"/>
          </a:xfrm>
          <a:prstGeom prst="rect">
            <a:avLst/>
          </a:prstGeom>
          <a:solidFill>
            <a:srgbClr val="0E4A6E"/>
          </a:solidFill>
          <a:ln w="9525">
            <a:solidFill>
              <a:srgbClr val="FFFFFF"/>
            </a:solidFill>
            <a:prstDash val="solid"/>
          </a:ln>
        </p:spPr>
      </p:sp>
      <p:sp>
        <p:nvSpPr>
          <p:cNvPr id="81" name="Shape 79"/>
          <p:cNvSpPr/>
          <p:nvPr/>
        </p:nvSpPr>
        <p:spPr>
          <a:xfrm>
            <a:off x="3511296" y="4700016"/>
            <a:ext cx="356616" cy="356616"/>
          </a:xfrm>
          <a:prstGeom prst="rect">
            <a:avLst/>
          </a:prstGeom>
          <a:solidFill>
            <a:srgbClr val="125A82"/>
          </a:solidFill>
          <a:ln w="9525">
            <a:solidFill>
              <a:srgbClr val="FFFFFF"/>
            </a:solidFill>
            <a:prstDash val="solid"/>
          </a:ln>
        </p:spPr>
      </p:sp>
      <p:sp>
        <p:nvSpPr>
          <p:cNvPr id="82" name="Shape 80"/>
          <p:cNvSpPr/>
          <p:nvPr/>
        </p:nvSpPr>
        <p:spPr>
          <a:xfrm>
            <a:off x="3895344" y="4700016"/>
            <a:ext cx="356616" cy="356616"/>
          </a:xfrm>
          <a:prstGeom prst="rect">
            <a:avLst/>
          </a:prstGeom>
          <a:solidFill>
            <a:srgbClr val="1C7293"/>
          </a:solidFill>
          <a:ln w="9525">
            <a:solidFill>
              <a:srgbClr val="FFFFFF"/>
            </a:solidFill>
            <a:prstDash val="solid"/>
          </a:ln>
        </p:spPr>
      </p:sp>
      <p:sp>
        <p:nvSpPr>
          <p:cNvPr id="83" name="Shape 81"/>
          <p:cNvSpPr/>
          <p:nvPr/>
        </p:nvSpPr>
        <p:spPr>
          <a:xfrm>
            <a:off x="4279392" y="4700016"/>
            <a:ext cx="356616" cy="356616"/>
          </a:xfrm>
          <a:prstGeom prst="rect">
            <a:avLst/>
          </a:prstGeom>
          <a:solidFill>
            <a:srgbClr val="2C8AA3"/>
          </a:solidFill>
          <a:ln w="9525">
            <a:solidFill>
              <a:srgbClr val="FFFFFF"/>
            </a:solidFill>
            <a:prstDash val="solid"/>
          </a:ln>
        </p:spPr>
      </p:sp>
      <p:sp>
        <p:nvSpPr>
          <p:cNvPr id="84" name="Text 82"/>
          <p:cNvSpPr/>
          <p:nvPr/>
        </p:nvSpPr>
        <p:spPr>
          <a:xfrm>
            <a:off x="822960" y="5221224"/>
            <a:ext cx="3840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Matriz de pixels (escala de cinza / RGB)</a:t>
            </a:r>
            <a:endParaRPr lang="en-US" sz="1200" dirty="0"/>
          </a:p>
        </p:txBody>
      </p:sp>
      <p:sp>
        <p:nvSpPr>
          <p:cNvPr id="85" name="Shape 83"/>
          <p:cNvSpPr/>
          <p:nvPr/>
        </p:nvSpPr>
        <p:spPr>
          <a:xfrm>
            <a:off x="6309360" y="1965960"/>
            <a:ext cx="411480" cy="411480"/>
          </a:xfrm>
          <a:prstGeom prst="ellipse">
            <a:avLst/>
          </a:prstGeom>
          <a:solidFill>
            <a:srgbClr val="065A82"/>
          </a:solidFill>
          <a:ln/>
        </p:spPr>
      </p:sp>
      <p:sp>
        <p:nvSpPr>
          <p:cNvPr id="86" name="Text 84"/>
          <p:cNvSpPr/>
          <p:nvPr/>
        </p:nvSpPr>
        <p:spPr>
          <a:xfrm>
            <a:off x="6309360" y="196596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600" dirty="0"/>
          </a:p>
        </p:txBody>
      </p:sp>
      <p:sp>
        <p:nvSpPr>
          <p:cNvPr id="87" name="Text 85"/>
          <p:cNvSpPr/>
          <p:nvPr/>
        </p:nvSpPr>
        <p:spPr>
          <a:xfrm>
            <a:off x="6903720" y="1911096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Escala de cinza</a:t>
            </a:r>
            <a:endParaRPr lang="en-US" sz="1600" dirty="0"/>
          </a:p>
        </p:txBody>
      </p:sp>
      <p:sp>
        <p:nvSpPr>
          <p:cNvPr id="88" name="Text 86"/>
          <p:cNvSpPr/>
          <p:nvPr/>
        </p:nvSpPr>
        <p:spPr>
          <a:xfrm>
            <a:off x="6903720" y="2276856"/>
            <a:ext cx="45720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Uma matriz 2D: cada posição guarda um valor de 0 a 255 (intensidade luminosa).</a:t>
            </a:r>
            <a:endParaRPr lang="en-US" sz="1300" dirty="0"/>
          </a:p>
        </p:txBody>
      </p:sp>
      <p:sp>
        <p:nvSpPr>
          <p:cNvPr id="89" name="Shape 87"/>
          <p:cNvSpPr/>
          <p:nvPr/>
        </p:nvSpPr>
        <p:spPr>
          <a:xfrm>
            <a:off x="6309360" y="3429000"/>
            <a:ext cx="411480" cy="411480"/>
          </a:xfrm>
          <a:prstGeom prst="ellipse">
            <a:avLst/>
          </a:prstGeom>
          <a:solidFill>
            <a:srgbClr val="065A82"/>
          </a:solidFill>
          <a:ln/>
        </p:spPr>
      </p:sp>
      <p:sp>
        <p:nvSpPr>
          <p:cNvPr id="90" name="Text 88"/>
          <p:cNvSpPr/>
          <p:nvPr/>
        </p:nvSpPr>
        <p:spPr>
          <a:xfrm>
            <a:off x="6309360" y="342900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600" dirty="0"/>
          </a:p>
        </p:txBody>
      </p:sp>
      <p:sp>
        <p:nvSpPr>
          <p:cNvPr id="91" name="Text 89"/>
          <p:cNvSpPr/>
          <p:nvPr/>
        </p:nvSpPr>
        <p:spPr>
          <a:xfrm>
            <a:off x="6903720" y="3374136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Imagem colorida (RGB)</a:t>
            </a:r>
            <a:endParaRPr lang="en-US" sz="1600" dirty="0"/>
          </a:p>
        </p:txBody>
      </p:sp>
      <p:sp>
        <p:nvSpPr>
          <p:cNvPr id="92" name="Text 90"/>
          <p:cNvSpPr/>
          <p:nvPr/>
        </p:nvSpPr>
        <p:spPr>
          <a:xfrm>
            <a:off x="6903720" y="3739896"/>
            <a:ext cx="45720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Três matrizes sobrepostas — uma para cada canal: vermelho, verde e azul.</a:t>
            </a:r>
            <a:endParaRPr lang="en-US" sz="1300" dirty="0"/>
          </a:p>
        </p:txBody>
      </p:sp>
      <p:sp>
        <p:nvSpPr>
          <p:cNvPr id="93" name="Shape 91"/>
          <p:cNvSpPr/>
          <p:nvPr/>
        </p:nvSpPr>
        <p:spPr>
          <a:xfrm>
            <a:off x="6309360" y="4892040"/>
            <a:ext cx="411480" cy="411480"/>
          </a:xfrm>
          <a:prstGeom prst="ellipse">
            <a:avLst/>
          </a:prstGeom>
          <a:solidFill>
            <a:srgbClr val="065A82"/>
          </a:solidFill>
          <a:ln/>
        </p:spPr>
      </p:sp>
      <p:sp>
        <p:nvSpPr>
          <p:cNvPr id="94" name="Text 92"/>
          <p:cNvSpPr/>
          <p:nvPr/>
        </p:nvSpPr>
        <p:spPr>
          <a:xfrm>
            <a:off x="6309360" y="489204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600" dirty="0"/>
          </a:p>
        </p:txBody>
      </p:sp>
      <p:sp>
        <p:nvSpPr>
          <p:cNvPr id="95" name="Text 93"/>
          <p:cNvSpPr/>
          <p:nvPr/>
        </p:nvSpPr>
        <p:spPr>
          <a:xfrm>
            <a:off x="6903720" y="4837176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 de todo processamento</a:t>
            </a:r>
            <a:endParaRPr lang="en-US" sz="1600" dirty="0"/>
          </a:p>
        </p:txBody>
      </p:sp>
      <p:sp>
        <p:nvSpPr>
          <p:cNvPr id="96" name="Text 94"/>
          <p:cNvSpPr/>
          <p:nvPr/>
        </p:nvSpPr>
        <p:spPr>
          <a:xfrm>
            <a:off x="6903720" y="5202936"/>
            <a:ext cx="45720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Filtros, redes neurais e algoritmos operam diretamente sobre esses valores numéricos.</a:t>
            </a:r>
            <a:endParaRPr lang="en-US" sz="13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7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11480"/>
            <a:ext cx="10515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Redes Neurais Convolucionais (CNNs)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640080" y="100584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arquitetura que aprende automaticamente a extrair características visuais.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640080" y="2148840"/>
            <a:ext cx="1600200" cy="1737360"/>
          </a:xfrm>
          <a:prstGeom prst="roundRect">
            <a:avLst>
              <a:gd name="adj" fmla="val 5143"/>
            </a:avLst>
          </a:prstGeom>
          <a:solidFill>
            <a:srgbClr val="065A82"/>
          </a:solidFill>
          <a:ln/>
          <a:effectLst>
            <a:outerShdw sx="100000" sy="100000" kx="0" ky="0" algn="bl" rotWithShape="0" blurRad="76200" dist="25400" dir="5400000">
              <a:srgbClr val="000000">
                <a:alpha val="15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713232" y="2313432"/>
            <a:ext cx="145389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Entrada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713232" y="2834640"/>
            <a:ext cx="1453896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E7F1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Imagem</a:t>
            </a:r>
            <a:endParaRPr lang="en-US" sz="1150" dirty="0"/>
          </a:p>
          <a:p>
            <a:pPr algn="ctr" indent="0" marL="0">
              <a:buNone/>
            </a:pPr>
            <a:r>
              <a:rPr lang="en-US" sz="1150" dirty="0">
                <a:solidFill>
                  <a:srgbClr val="E7F1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(matriz)</a:t>
            </a:r>
            <a:endParaRPr lang="en-US" sz="1150" dirty="0"/>
          </a:p>
        </p:txBody>
      </p:sp>
      <p:sp>
        <p:nvSpPr>
          <p:cNvPr id="7" name="Shape 5"/>
          <p:cNvSpPr/>
          <p:nvPr/>
        </p:nvSpPr>
        <p:spPr>
          <a:xfrm>
            <a:off x="2240280" y="2999232"/>
            <a:ext cx="228600" cy="36576"/>
          </a:xfrm>
          <a:prstGeom prst="rect">
            <a:avLst/>
          </a:prstGeom>
          <a:solidFill>
            <a:srgbClr val="64748B"/>
          </a:solidFill>
          <a:ln/>
        </p:spPr>
      </p:sp>
      <p:sp>
        <p:nvSpPr>
          <p:cNvPr id="8" name="Shape 6"/>
          <p:cNvSpPr/>
          <p:nvPr/>
        </p:nvSpPr>
        <p:spPr>
          <a:xfrm>
            <a:off x="2468880" y="2148840"/>
            <a:ext cx="1600200" cy="1737360"/>
          </a:xfrm>
          <a:prstGeom prst="roundRect">
            <a:avLst>
              <a:gd name="adj" fmla="val 5143"/>
            </a:avLst>
          </a:prstGeom>
          <a:solidFill>
            <a:srgbClr val="1C7293"/>
          </a:solidFill>
          <a:ln/>
          <a:effectLst>
            <a:outerShdw sx="100000" sy="100000" kx="0" ky="0" algn="bl" rotWithShape="0" blurRad="76200" dist="25400" dir="5400000">
              <a:srgbClr val="000000">
                <a:alpha val="15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2542032" y="2313432"/>
            <a:ext cx="145389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Convolução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2542032" y="2834640"/>
            <a:ext cx="1453896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E7F1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Filtros detectam</a:t>
            </a:r>
            <a:endParaRPr lang="en-US" sz="1150" dirty="0"/>
          </a:p>
          <a:p>
            <a:pPr algn="ctr" indent="0" marL="0">
              <a:buNone/>
            </a:pPr>
            <a:r>
              <a:rPr lang="en-US" sz="1150" dirty="0">
                <a:solidFill>
                  <a:srgbClr val="E7F1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bordas e texturas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4069080" y="2999232"/>
            <a:ext cx="228600" cy="36576"/>
          </a:xfrm>
          <a:prstGeom prst="rect">
            <a:avLst/>
          </a:prstGeom>
          <a:solidFill>
            <a:srgbClr val="64748B"/>
          </a:solidFill>
          <a:ln/>
        </p:spPr>
      </p:sp>
      <p:sp>
        <p:nvSpPr>
          <p:cNvPr id="12" name="Shape 10"/>
          <p:cNvSpPr/>
          <p:nvPr/>
        </p:nvSpPr>
        <p:spPr>
          <a:xfrm>
            <a:off x="4297680" y="2148840"/>
            <a:ext cx="1600200" cy="1737360"/>
          </a:xfrm>
          <a:prstGeom prst="roundRect">
            <a:avLst>
              <a:gd name="adj" fmla="val 5143"/>
            </a:avLst>
          </a:prstGeom>
          <a:solidFill>
            <a:srgbClr val="065A82"/>
          </a:solidFill>
          <a:ln/>
          <a:effectLst>
            <a:outerShdw sx="100000" sy="100000" kx="0" ky="0" algn="bl" rotWithShape="0" blurRad="76200" dist="25400" dir="5400000">
              <a:srgbClr val="000000">
                <a:alpha val="15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4370832" y="2313432"/>
            <a:ext cx="145389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Pooling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4370832" y="2834640"/>
            <a:ext cx="1453896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E7F1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Reduz</a:t>
            </a:r>
            <a:endParaRPr lang="en-US" sz="1150" dirty="0"/>
          </a:p>
          <a:p>
            <a:pPr algn="ctr" indent="0" marL="0">
              <a:buNone/>
            </a:pPr>
            <a:r>
              <a:rPr lang="en-US" sz="1150" dirty="0">
                <a:solidFill>
                  <a:srgbClr val="E7F1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dimensionalidade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5897880" y="2999232"/>
            <a:ext cx="228600" cy="36576"/>
          </a:xfrm>
          <a:prstGeom prst="rect">
            <a:avLst/>
          </a:prstGeom>
          <a:solidFill>
            <a:srgbClr val="64748B"/>
          </a:solidFill>
          <a:ln/>
        </p:spPr>
      </p:sp>
      <p:sp>
        <p:nvSpPr>
          <p:cNvPr id="16" name="Shape 14"/>
          <p:cNvSpPr/>
          <p:nvPr/>
        </p:nvSpPr>
        <p:spPr>
          <a:xfrm>
            <a:off x="6126480" y="2148840"/>
            <a:ext cx="1600200" cy="1737360"/>
          </a:xfrm>
          <a:prstGeom prst="roundRect">
            <a:avLst>
              <a:gd name="adj" fmla="val 5143"/>
            </a:avLst>
          </a:prstGeom>
          <a:solidFill>
            <a:srgbClr val="1C7293"/>
          </a:solidFill>
          <a:ln/>
          <a:effectLst>
            <a:outerShdw sx="100000" sy="100000" kx="0" ky="0" algn="bl" rotWithShape="0" blurRad="76200" dist="25400" dir="5400000">
              <a:srgbClr val="000000">
                <a:alpha val="15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6199632" y="2313432"/>
            <a:ext cx="145389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Convolução+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6199632" y="2834640"/>
            <a:ext cx="1453896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E7F1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Padrões mais</a:t>
            </a:r>
            <a:endParaRPr lang="en-US" sz="1150" dirty="0"/>
          </a:p>
          <a:p>
            <a:pPr algn="ctr" indent="0" marL="0">
              <a:buNone/>
            </a:pPr>
            <a:r>
              <a:rPr lang="en-US" sz="1150" dirty="0">
                <a:solidFill>
                  <a:srgbClr val="E7F1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complexos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7726680" y="2999232"/>
            <a:ext cx="228600" cy="36576"/>
          </a:xfrm>
          <a:prstGeom prst="rect">
            <a:avLst/>
          </a:prstGeom>
          <a:solidFill>
            <a:srgbClr val="64748B"/>
          </a:solidFill>
          <a:ln/>
        </p:spPr>
      </p:sp>
      <p:sp>
        <p:nvSpPr>
          <p:cNvPr id="20" name="Shape 18"/>
          <p:cNvSpPr/>
          <p:nvPr/>
        </p:nvSpPr>
        <p:spPr>
          <a:xfrm>
            <a:off x="7955280" y="2148840"/>
            <a:ext cx="1600200" cy="1737360"/>
          </a:xfrm>
          <a:prstGeom prst="roundRect">
            <a:avLst>
              <a:gd name="adj" fmla="val 5143"/>
            </a:avLst>
          </a:prstGeom>
          <a:solidFill>
            <a:srgbClr val="065A82"/>
          </a:solidFill>
          <a:ln/>
          <a:effectLst>
            <a:outerShdw sx="100000" sy="100000" kx="0" ky="0" algn="bl" rotWithShape="0" blurRad="76200" dist="25400" dir="5400000">
              <a:srgbClr val="000000">
                <a:alpha val="15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8028432" y="2313432"/>
            <a:ext cx="145389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Flatten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8028432" y="2834640"/>
            <a:ext cx="1453896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E7F1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Vetoriza os</a:t>
            </a:r>
            <a:endParaRPr lang="en-US" sz="1150" dirty="0"/>
          </a:p>
          <a:p>
            <a:pPr algn="ctr" indent="0" marL="0">
              <a:buNone/>
            </a:pPr>
            <a:r>
              <a:rPr lang="en-US" sz="1150" dirty="0">
                <a:solidFill>
                  <a:srgbClr val="E7F1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mapas</a:t>
            </a:r>
            <a:endParaRPr lang="en-US" sz="1150" dirty="0"/>
          </a:p>
        </p:txBody>
      </p:sp>
      <p:sp>
        <p:nvSpPr>
          <p:cNvPr id="23" name="Shape 21"/>
          <p:cNvSpPr/>
          <p:nvPr/>
        </p:nvSpPr>
        <p:spPr>
          <a:xfrm>
            <a:off x="9555480" y="2999232"/>
            <a:ext cx="228600" cy="36576"/>
          </a:xfrm>
          <a:prstGeom prst="rect">
            <a:avLst/>
          </a:prstGeom>
          <a:solidFill>
            <a:srgbClr val="64748B"/>
          </a:solidFill>
          <a:ln/>
        </p:spPr>
      </p:sp>
      <p:sp>
        <p:nvSpPr>
          <p:cNvPr id="24" name="Shape 22"/>
          <p:cNvSpPr/>
          <p:nvPr/>
        </p:nvSpPr>
        <p:spPr>
          <a:xfrm>
            <a:off x="9784080" y="2148840"/>
            <a:ext cx="1600200" cy="1737360"/>
          </a:xfrm>
          <a:prstGeom prst="roundRect">
            <a:avLst>
              <a:gd name="adj" fmla="val 5143"/>
            </a:avLst>
          </a:prstGeom>
          <a:solidFill>
            <a:srgbClr val="1C7293"/>
          </a:solidFill>
          <a:ln/>
          <a:effectLst>
            <a:outerShdw sx="100000" sy="100000" kx="0" ky="0" algn="bl" rotWithShape="0" blurRad="76200" dist="25400" dir="5400000">
              <a:srgbClr val="000000">
                <a:alpha val="15000"/>
              </a:srgbClr>
            </a:outerShdw>
          </a:effectLst>
        </p:spPr>
      </p:sp>
      <p:sp>
        <p:nvSpPr>
          <p:cNvPr id="25" name="Text 23"/>
          <p:cNvSpPr/>
          <p:nvPr/>
        </p:nvSpPr>
        <p:spPr>
          <a:xfrm>
            <a:off x="9857232" y="2313432"/>
            <a:ext cx="145389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Densa</a:t>
            </a:r>
            <a:endParaRPr lang="en-US" sz="1400" dirty="0"/>
          </a:p>
        </p:txBody>
      </p:sp>
      <p:sp>
        <p:nvSpPr>
          <p:cNvPr id="26" name="Text 24"/>
          <p:cNvSpPr/>
          <p:nvPr/>
        </p:nvSpPr>
        <p:spPr>
          <a:xfrm>
            <a:off x="9857232" y="2834640"/>
            <a:ext cx="1453896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E7F1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Classificação</a:t>
            </a:r>
            <a:endParaRPr lang="en-US" sz="1150" dirty="0"/>
          </a:p>
          <a:p>
            <a:pPr algn="ctr" indent="0" marL="0">
              <a:buNone/>
            </a:pPr>
            <a:r>
              <a:rPr lang="en-US" sz="1150" dirty="0">
                <a:solidFill>
                  <a:srgbClr val="E7F1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final</a:t>
            </a:r>
            <a:endParaRPr lang="en-US" sz="1150" dirty="0"/>
          </a:p>
        </p:txBody>
      </p:sp>
      <p:sp>
        <p:nvSpPr>
          <p:cNvPr id="27" name="Shape 25"/>
          <p:cNvSpPr/>
          <p:nvPr/>
        </p:nvSpPr>
        <p:spPr>
          <a:xfrm>
            <a:off x="640080" y="4343400"/>
            <a:ext cx="10881360" cy="1691640"/>
          </a:xfrm>
          <a:prstGeom prst="roundRect">
            <a:avLst>
              <a:gd name="adj" fmla="val 4324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000000">
                <a:alpha val="10000"/>
              </a:srgbClr>
            </a:outerShdw>
          </a:effectLst>
        </p:spPr>
      </p:sp>
      <p:sp>
        <p:nvSpPr>
          <p:cNvPr id="28" name="Shape 26"/>
          <p:cNvSpPr/>
          <p:nvPr/>
        </p:nvSpPr>
        <p:spPr>
          <a:xfrm>
            <a:off x="914400" y="4572000"/>
            <a:ext cx="128016" cy="128016"/>
          </a:xfrm>
          <a:prstGeom prst="ellipse">
            <a:avLst/>
          </a:prstGeom>
          <a:solidFill>
            <a:srgbClr val="065A82"/>
          </a:solidFill>
          <a:ln/>
        </p:spPr>
      </p:sp>
      <p:sp>
        <p:nvSpPr>
          <p:cNvPr id="29" name="Text 27"/>
          <p:cNvSpPr/>
          <p:nvPr/>
        </p:nvSpPr>
        <p:spPr>
          <a:xfrm>
            <a:off x="1188720" y="4462272"/>
            <a:ext cx="10058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Ativação (ReLU): introduz não linearidade, permitindo aprender padrões complexos.</a:t>
            </a:r>
            <a:endParaRPr lang="en-US" sz="1350" dirty="0"/>
          </a:p>
        </p:txBody>
      </p:sp>
      <p:sp>
        <p:nvSpPr>
          <p:cNvPr id="30" name="Shape 28"/>
          <p:cNvSpPr/>
          <p:nvPr/>
        </p:nvSpPr>
        <p:spPr>
          <a:xfrm>
            <a:off x="914400" y="5056632"/>
            <a:ext cx="128016" cy="128016"/>
          </a:xfrm>
          <a:prstGeom prst="ellipse">
            <a:avLst/>
          </a:prstGeom>
          <a:solidFill>
            <a:srgbClr val="065A82"/>
          </a:solidFill>
          <a:ln/>
        </p:spPr>
      </p:sp>
      <p:sp>
        <p:nvSpPr>
          <p:cNvPr id="31" name="Text 29"/>
          <p:cNvSpPr/>
          <p:nvPr/>
        </p:nvSpPr>
        <p:spPr>
          <a:xfrm>
            <a:off x="1188720" y="4946904"/>
            <a:ext cx="10058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Retropropagação: o erro é propagado para trás, ajustando os pesos (otimizador Adam/SGD).</a:t>
            </a:r>
            <a:endParaRPr lang="en-US" sz="1350" dirty="0"/>
          </a:p>
        </p:txBody>
      </p:sp>
      <p:sp>
        <p:nvSpPr>
          <p:cNvPr id="32" name="Shape 30"/>
          <p:cNvSpPr/>
          <p:nvPr/>
        </p:nvSpPr>
        <p:spPr>
          <a:xfrm>
            <a:off x="914400" y="5541264"/>
            <a:ext cx="128016" cy="128016"/>
          </a:xfrm>
          <a:prstGeom prst="ellipse">
            <a:avLst/>
          </a:prstGeom>
          <a:solidFill>
            <a:srgbClr val="065A82"/>
          </a:solidFill>
          <a:ln/>
        </p:spPr>
      </p:sp>
      <p:sp>
        <p:nvSpPr>
          <p:cNvPr id="33" name="Text 31"/>
          <p:cNvSpPr/>
          <p:nvPr/>
        </p:nvSpPr>
        <p:spPr>
          <a:xfrm>
            <a:off x="1188720" y="5431536"/>
            <a:ext cx="10058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Vantagem: elimina a necessidade de extração manual de características (feature engineering).</a:t>
            </a:r>
            <a:endParaRPr lang="en-US" sz="13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515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Tarefas Fundamentais em Visão Computacional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640080" y="1417320"/>
            <a:ext cx="5166360" cy="2148840"/>
          </a:xfrm>
          <a:prstGeom prst="roundRect">
            <a:avLst>
              <a:gd name="adj" fmla="val 4255"/>
            </a:avLst>
          </a:prstGeom>
          <a:solidFill>
            <a:srgbClr val="F7FAFC"/>
          </a:solidFill>
          <a:ln/>
          <a:effectLst>
            <a:outerShdw sx="100000" sy="100000" kx="0" ky="0" algn="bl" rotWithShape="0" blurRad="101600" dist="38100" dir="5400000">
              <a:srgbClr val="000000">
                <a:alpha val="10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960120" y="1737360"/>
            <a:ext cx="868680" cy="868680"/>
          </a:xfrm>
          <a:prstGeom prst="ellipse">
            <a:avLst/>
          </a:prstGeom>
          <a:solidFill>
            <a:srgbClr val="065A82"/>
          </a:solidFill>
          <a:ln/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73048" y="1850288"/>
            <a:ext cx="642823" cy="642823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2057400" y="1737360"/>
            <a:ext cx="3474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Classificação de Imagens</a:t>
            </a:r>
            <a:endParaRPr lang="en-US" sz="1700" dirty="0"/>
          </a:p>
        </p:txBody>
      </p:sp>
      <p:sp>
        <p:nvSpPr>
          <p:cNvPr id="7" name="Text 4"/>
          <p:cNvSpPr/>
          <p:nvPr/>
        </p:nvSpPr>
        <p:spPr>
          <a:xfrm>
            <a:off x="2057400" y="2240280"/>
            <a:ext cx="34747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Atribuir um rótulo à imagem inteira (ex.: "gato", "cachorro").</a:t>
            </a:r>
            <a:endParaRPr lang="en-US" sz="1300" dirty="0"/>
          </a:p>
        </p:txBody>
      </p:sp>
      <p:sp>
        <p:nvSpPr>
          <p:cNvPr id="8" name="Shape 5"/>
          <p:cNvSpPr/>
          <p:nvPr/>
        </p:nvSpPr>
        <p:spPr>
          <a:xfrm>
            <a:off x="6126480" y="1417320"/>
            <a:ext cx="5166360" cy="2148840"/>
          </a:xfrm>
          <a:prstGeom prst="roundRect">
            <a:avLst>
              <a:gd name="adj" fmla="val 4255"/>
            </a:avLst>
          </a:prstGeom>
          <a:solidFill>
            <a:srgbClr val="F7FAFC"/>
          </a:solidFill>
          <a:ln/>
          <a:effectLst>
            <a:outerShdw sx="100000" sy="100000" kx="0" ky="0" algn="bl" rotWithShape="0" blurRad="101600" dist="38100" dir="5400000">
              <a:srgbClr val="000000">
                <a:alpha val="10000"/>
              </a:srgbClr>
            </a:outerShdw>
          </a:effectLst>
        </p:spPr>
      </p:sp>
      <p:sp>
        <p:nvSpPr>
          <p:cNvPr id="9" name="Shape 6"/>
          <p:cNvSpPr/>
          <p:nvPr/>
        </p:nvSpPr>
        <p:spPr>
          <a:xfrm>
            <a:off x="6446520" y="1737360"/>
            <a:ext cx="868680" cy="868680"/>
          </a:xfrm>
          <a:prstGeom prst="ellipse">
            <a:avLst/>
          </a:prstGeom>
          <a:solidFill>
            <a:srgbClr val="065A82"/>
          </a:solidFill>
          <a:ln/>
        </p:spPr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59448" y="1850288"/>
            <a:ext cx="642823" cy="642823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7543800" y="1737360"/>
            <a:ext cx="3474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Detecção de Objetos</a:t>
            </a:r>
            <a:endParaRPr lang="en-US" sz="1700" dirty="0"/>
          </a:p>
        </p:txBody>
      </p:sp>
      <p:sp>
        <p:nvSpPr>
          <p:cNvPr id="12" name="Text 8"/>
          <p:cNvSpPr/>
          <p:nvPr/>
        </p:nvSpPr>
        <p:spPr>
          <a:xfrm>
            <a:off x="7543800" y="2240280"/>
            <a:ext cx="34747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Localizar e classificar múltiplos objetos com bounding boxes.</a:t>
            </a:r>
            <a:endParaRPr lang="en-US" sz="1300" dirty="0"/>
          </a:p>
        </p:txBody>
      </p:sp>
      <p:sp>
        <p:nvSpPr>
          <p:cNvPr id="13" name="Shape 9"/>
          <p:cNvSpPr/>
          <p:nvPr/>
        </p:nvSpPr>
        <p:spPr>
          <a:xfrm>
            <a:off x="640080" y="3886200"/>
            <a:ext cx="5166360" cy="2148840"/>
          </a:xfrm>
          <a:prstGeom prst="roundRect">
            <a:avLst>
              <a:gd name="adj" fmla="val 4255"/>
            </a:avLst>
          </a:prstGeom>
          <a:solidFill>
            <a:srgbClr val="F7FAFC"/>
          </a:solidFill>
          <a:ln/>
          <a:effectLst>
            <a:outerShdw sx="100000" sy="100000" kx="0" ky="0" algn="bl" rotWithShape="0" blurRad="101600" dist="38100" dir="5400000">
              <a:srgbClr val="000000">
                <a:alpha val="10000"/>
              </a:srgbClr>
            </a:outerShdw>
          </a:effectLst>
        </p:spPr>
      </p:sp>
      <p:sp>
        <p:nvSpPr>
          <p:cNvPr id="14" name="Shape 10"/>
          <p:cNvSpPr/>
          <p:nvPr/>
        </p:nvSpPr>
        <p:spPr>
          <a:xfrm>
            <a:off x="960120" y="4206240"/>
            <a:ext cx="868680" cy="868680"/>
          </a:xfrm>
          <a:prstGeom prst="ellipse">
            <a:avLst/>
          </a:prstGeom>
          <a:solidFill>
            <a:srgbClr val="065A82"/>
          </a:solidFill>
          <a:ln/>
        </p:spPr>
      </p:sp>
      <p:pic>
        <p:nvPicPr>
          <p:cNvPr id="15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73048" y="4319168"/>
            <a:ext cx="642823" cy="642823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2057400" y="4206240"/>
            <a:ext cx="3474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Segmentação</a:t>
            </a:r>
            <a:endParaRPr lang="en-US" sz="1700" dirty="0"/>
          </a:p>
        </p:txBody>
      </p:sp>
      <p:sp>
        <p:nvSpPr>
          <p:cNvPr id="17" name="Text 12"/>
          <p:cNvSpPr/>
          <p:nvPr/>
        </p:nvSpPr>
        <p:spPr>
          <a:xfrm>
            <a:off x="2057400" y="4709160"/>
            <a:ext cx="34747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Classificar cada pixel, distinguindo instâncias de objetos.</a:t>
            </a:r>
            <a:endParaRPr lang="en-US" sz="1300" dirty="0"/>
          </a:p>
        </p:txBody>
      </p:sp>
      <p:sp>
        <p:nvSpPr>
          <p:cNvPr id="18" name="Shape 13"/>
          <p:cNvSpPr/>
          <p:nvPr/>
        </p:nvSpPr>
        <p:spPr>
          <a:xfrm>
            <a:off x="6126480" y="3886200"/>
            <a:ext cx="5166360" cy="2148840"/>
          </a:xfrm>
          <a:prstGeom prst="roundRect">
            <a:avLst>
              <a:gd name="adj" fmla="val 4255"/>
            </a:avLst>
          </a:prstGeom>
          <a:solidFill>
            <a:srgbClr val="F7FAFC"/>
          </a:solidFill>
          <a:ln/>
          <a:effectLst>
            <a:outerShdw sx="100000" sy="100000" kx="0" ky="0" algn="bl" rotWithShape="0" blurRad="101600" dist="38100" dir="5400000">
              <a:srgbClr val="000000">
                <a:alpha val="10000"/>
              </a:srgbClr>
            </a:outerShdw>
          </a:effectLst>
        </p:spPr>
      </p:sp>
      <p:sp>
        <p:nvSpPr>
          <p:cNvPr id="19" name="Shape 14"/>
          <p:cNvSpPr/>
          <p:nvPr/>
        </p:nvSpPr>
        <p:spPr>
          <a:xfrm>
            <a:off x="6446520" y="4206240"/>
            <a:ext cx="868680" cy="868680"/>
          </a:xfrm>
          <a:prstGeom prst="ellipse">
            <a:avLst/>
          </a:prstGeom>
          <a:solidFill>
            <a:srgbClr val="065A82"/>
          </a:solidFill>
          <a:ln/>
        </p:spPr>
      </p:sp>
      <p:pic>
        <p:nvPicPr>
          <p:cNvPr id="20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59448" y="4319168"/>
            <a:ext cx="642823" cy="642823"/>
          </a:xfrm>
          <a:prstGeom prst="rect">
            <a:avLst/>
          </a:prstGeom>
        </p:spPr>
      </p:pic>
      <p:sp>
        <p:nvSpPr>
          <p:cNvPr id="21" name="Text 15"/>
          <p:cNvSpPr/>
          <p:nvPr/>
        </p:nvSpPr>
        <p:spPr>
          <a:xfrm>
            <a:off x="7543800" y="4206240"/>
            <a:ext cx="3474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Reconhecimento Facial</a:t>
            </a:r>
            <a:endParaRPr lang="en-US" sz="1700" dirty="0"/>
          </a:p>
        </p:txBody>
      </p:sp>
      <p:sp>
        <p:nvSpPr>
          <p:cNvPr id="22" name="Text 16"/>
          <p:cNvSpPr/>
          <p:nvPr/>
        </p:nvSpPr>
        <p:spPr>
          <a:xfrm>
            <a:off x="7543800" y="4709160"/>
            <a:ext cx="34747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Identificar ou verificar a identidade a partir do rosto.</a:t>
            </a:r>
            <a:endParaRPr lang="en-US" sz="13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7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058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Técnicas, Ferramentas e Frameworks</a:t>
            </a:r>
            <a:endParaRPr lang="en-US" sz="2800" dirty="0"/>
          </a:p>
        </p:txBody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0080" y="1371600"/>
          <a:ext cx="10881360" cy="4846320"/>
        </p:xfrm>
        <a:graphic>
          <a:graphicData uri="http://schemas.openxmlformats.org/drawingml/2006/table">
            <a:tbl>
              <a:tblPr/>
              <a:tblGrid>
                <a:gridCol w="3108960"/>
                <a:gridCol w="3840480"/>
                <a:gridCol w="3931920"/>
              </a:tblGrid>
              <a:tr h="692331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Categoria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D6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65A8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Ferramentas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D6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65A8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Uso típico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D6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65A82"/>
                    </a:solidFill>
                  </a:tcPr>
                </a:tc>
              </a:tr>
              <a:tr h="692331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Processamento clássico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D6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b="1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OpenCV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D6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Filtros, bordas, manipulação em tempo real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D6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92331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Deep Learning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D6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3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b="1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TensorFlow / Keras, PyTorch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D6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3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Construção e treinamento de CNNs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D6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3F7"/>
                    </a:solidFill>
                  </a:tcPr>
                </a:tc>
              </a:tr>
              <a:tr h="692331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Modelos pré-treinados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D6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b="1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ResNet, VGG, MobileNet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D6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Transfer learning para classificação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D6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92331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Detecção de objetos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D6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3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b="1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YOLO, Faster R-CNN, SSD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D6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3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Detecção em tempo real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D6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3F7"/>
                    </a:solidFill>
                  </a:tcPr>
                </a:tc>
              </a:tr>
              <a:tr h="692331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Rostos e biometria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D6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b="1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MediaPipe, Dlib, FaceNet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D6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Reconhecimento facial e rastreamento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D6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92331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Ambiente de desenvolvimento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D6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3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b="1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Google Colab, Jupyter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D6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3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Prototipagem com GPU gratuita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D6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3F7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058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Exemplos Reais e Estudos de Caso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640080" y="1417320"/>
            <a:ext cx="3520440" cy="2331720"/>
          </a:xfrm>
          <a:prstGeom prst="roundRect">
            <a:avLst>
              <a:gd name="adj" fmla="val 3922"/>
            </a:avLst>
          </a:prstGeom>
          <a:solidFill>
            <a:srgbClr val="F7FAFC"/>
          </a:solidFill>
          <a:ln/>
          <a:effectLst>
            <a:outerShdw sx="100000" sy="100000" kx="0" ky="0" algn="bl" rotWithShape="0" blurRad="101600" dist="38100" dir="5400000">
              <a:srgbClr val="000000">
                <a:alpha val="10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1988820" y="1673352"/>
            <a:ext cx="822960" cy="822960"/>
          </a:xfrm>
          <a:prstGeom prst="ellipse">
            <a:avLst/>
          </a:prstGeom>
          <a:solidFill>
            <a:srgbClr val="065A82"/>
          </a:solidFill>
          <a:ln/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095805" y="1780337"/>
            <a:ext cx="608990" cy="60899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822960" y="2606040"/>
            <a:ext cx="3154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Biometria</a:t>
            </a:r>
            <a:endParaRPr lang="en-US" sz="1500" dirty="0"/>
          </a:p>
        </p:txBody>
      </p:sp>
      <p:sp>
        <p:nvSpPr>
          <p:cNvPr id="7" name="Text 4"/>
          <p:cNvSpPr/>
          <p:nvPr/>
        </p:nvSpPr>
        <p:spPr>
          <a:xfrm>
            <a:off x="868680" y="2990088"/>
            <a:ext cx="3063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Face ID e digitais em smartphones, com processamento local por privacidade.</a:t>
            </a:r>
            <a:endParaRPr lang="en-US" sz="1150" dirty="0"/>
          </a:p>
        </p:txBody>
      </p:sp>
      <p:sp>
        <p:nvSpPr>
          <p:cNvPr id="8" name="Shape 5"/>
          <p:cNvSpPr/>
          <p:nvPr/>
        </p:nvSpPr>
        <p:spPr>
          <a:xfrm>
            <a:off x="4389120" y="1417320"/>
            <a:ext cx="3520440" cy="2331720"/>
          </a:xfrm>
          <a:prstGeom prst="roundRect">
            <a:avLst>
              <a:gd name="adj" fmla="val 3922"/>
            </a:avLst>
          </a:prstGeom>
          <a:solidFill>
            <a:srgbClr val="F7FAFC"/>
          </a:solidFill>
          <a:ln/>
          <a:effectLst>
            <a:outerShdw sx="100000" sy="100000" kx="0" ky="0" algn="bl" rotWithShape="0" blurRad="101600" dist="38100" dir="5400000">
              <a:srgbClr val="000000">
                <a:alpha val="10000"/>
              </a:srgbClr>
            </a:outerShdw>
          </a:effectLst>
        </p:spPr>
      </p:sp>
      <p:sp>
        <p:nvSpPr>
          <p:cNvPr id="9" name="Shape 6"/>
          <p:cNvSpPr/>
          <p:nvPr/>
        </p:nvSpPr>
        <p:spPr>
          <a:xfrm>
            <a:off x="5737860" y="1673352"/>
            <a:ext cx="822960" cy="822960"/>
          </a:xfrm>
          <a:prstGeom prst="ellipse">
            <a:avLst/>
          </a:prstGeom>
          <a:solidFill>
            <a:srgbClr val="065A82"/>
          </a:solidFill>
          <a:ln/>
        </p:spPr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44845" y="1780337"/>
            <a:ext cx="608990" cy="608990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4572000" y="2606040"/>
            <a:ext cx="3154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Veículos Autônomos</a:t>
            </a:r>
            <a:endParaRPr lang="en-US" sz="1500" dirty="0"/>
          </a:p>
        </p:txBody>
      </p:sp>
      <p:sp>
        <p:nvSpPr>
          <p:cNvPr id="12" name="Text 8"/>
          <p:cNvSpPr/>
          <p:nvPr/>
        </p:nvSpPr>
        <p:spPr>
          <a:xfrm>
            <a:off x="4617720" y="2990088"/>
            <a:ext cx="3063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Detecção de pedestres, faixas e sinalização em tempo real.</a:t>
            </a:r>
            <a:endParaRPr lang="en-US" sz="1150" dirty="0"/>
          </a:p>
        </p:txBody>
      </p:sp>
      <p:sp>
        <p:nvSpPr>
          <p:cNvPr id="13" name="Shape 9"/>
          <p:cNvSpPr/>
          <p:nvPr/>
        </p:nvSpPr>
        <p:spPr>
          <a:xfrm>
            <a:off x="8138160" y="1417320"/>
            <a:ext cx="3520440" cy="2331720"/>
          </a:xfrm>
          <a:prstGeom prst="roundRect">
            <a:avLst>
              <a:gd name="adj" fmla="val 3922"/>
            </a:avLst>
          </a:prstGeom>
          <a:solidFill>
            <a:srgbClr val="F7FAFC"/>
          </a:solidFill>
          <a:ln/>
          <a:effectLst>
            <a:outerShdw sx="100000" sy="100000" kx="0" ky="0" algn="bl" rotWithShape="0" blurRad="101600" dist="38100" dir="5400000">
              <a:srgbClr val="000000">
                <a:alpha val="10000"/>
              </a:srgbClr>
            </a:outerShdw>
          </a:effectLst>
        </p:spPr>
      </p:sp>
      <p:sp>
        <p:nvSpPr>
          <p:cNvPr id="14" name="Shape 10"/>
          <p:cNvSpPr/>
          <p:nvPr/>
        </p:nvSpPr>
        <p:spPr>
          <a:xfrm>
            <a:off x="9486900" y="1673352"/>
            <a:ext cx="822960" cy="822960"/>
          </a:xfrm>
          <a:prstGeom prst="ellipse">
            <a:avLst/>
          </a:prstGeom>
          <a:solidFill>
            <a:srgbClr val="065A82"/>
          </a:solidFill>
          <a:ln/>
        </p:spPr>
      </p:sp>
      <p:pic>
        <p:nvPicPr>
          <p:cNvPr id="15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593885" y="1780337"/>
            <a:ext cx="608990" cy="608990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8321040" y="2606040"/>
            <a:ext cx="3154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Diagnóstico Médico</a:t>
            </a:r>
            <a:endParaRPr lang="en-US" sz="1500" dirty="0"/>
          </a:p>
        </p:txBody>
      </p:sp>
      <p:sp>
        <p:nvSpPr>
          <p:cNvPr id="17" name="Text 12"/>
          <p:cNvSpPr/>
          <p:nvPr/>
        </p:nvSpPr>
        <p:spPr>
          <a:xfrm>
            <a:off x="8366760" y="2990088"/>
            <a:ext cx="3063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Detecção precoce de câncer e retinopatia em exames de imagem.</a:t>
            </a:r>
            <a:endParaRPr lang="en-US" sz="1150" dirty="0"/>
          </a:p>
        </p:txBody>
      </p:sp>
      <p:sp>
        <p:nvSpPr>
          <p:cNvPr id="18" name="Shape 13"/>
          <p:cNvSpPr/>
          <p:nvPr/>
        </p:nvSpPr>
        <p:spPr>
          <a:xfrm>
            <a:off x="640080" y="4023360"/>
            <a:ext cx="3520440" cy="2331720"/>
          </a:xfrm>
          <a:prstGeom prst="roundRect">
            <a:avLst>
              <a:gd name="adj" fmla="val 3922"/>
            </a:avLst>
          </a:prstGeom>
          <a:solidFill>
            <a:srgbClr val="F7FAFC"/>
          </a:solidFill>
          <a:ln/>
          <a:effectLst>
            <a:outerShdw sx="100000" sy="100000" kx="0" ky="0" algn="bl" rotWithShape="0" blurRad="101600" dist="38100" dir="5400000">
              <a:srgbClr val="000000">
                <a:alpha val="10000"/>
              </a:srgbClr>
            </a:outerShdw>
          </a:effectLst>
        </p:spPr>
      </p:sp>
      <p:sp>
        <p:nvSpPr>
          <p:cNvPr id="19" name="Shape 14"/>
          <p:cNvSpPr/>
          <p:nvPr/>
        </p:nvSpPr>
        <p:spPr>
          <a:xfrm>
            <a:off x="1988820" y="4279392"/>
            <a:ext cx="822960" cy="822960"/>
          </a:xfrm>
          <a:prstGeom prst="ellipse">
            <a:avLst/>
          </a:prstGeom>
          <a:solidFill>
            <a:srgbClr val="065A82"/>
          </a:solidFill>
          <a:ln/>
        </p:spPr>
      </p:sp>
      <p:pic>
        <p:nvPicPr>
          <p:cNvPr id="20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095805" y="4386377"/>
            <a:ext cx="608990" cy="608990"/>
          </a:xfrm>
          <a:prstGeom prst="rect">
            <a:avLst/>
          </a:prstGeom>
        </p:spPr>
      </p:pic>
      <p:sp>
        <p:nvSpPr>
          <p:cNvPr id="21" name="Text 15"/>
          <p:cNvSpPr/>
          <p:nvPr/>
        </p:nvSpPr>
        <p:spPr>
          <a:xfrm>
            <a:off x="822960" y="5212080"/>
            <a:ext cx="3154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Indústria 4.0</a:t>
            </a:r>
            <a:endParaRPr lang="en-US" sz="1500" dirty="0"/>
          </a:p>
        </p:txBody>
      </p:sp>
      <p:sp>
        <p:nvSpPr>
          <p:cNvPr id="22" name="Text 16"/>
          <p:cNvSpPr/>
          <p:nvPr/>
        </p:nvSpPr>
        <p:spPr>
          <a:xfrm>
            <a:off x="868680" y="5596128"/>
            <a:ext cx="3063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Inspeção automática de defeitos em linhas de produção.</a:t>
            </a:r>
            <a:endParaRPr lang="en-US" sz="1150" dirty="0"/>
          </a:p>
        </p:txBody>
      </p:sp>
      <p:sp>
        <p:nvSpPr>
          <p:cNvPr id="23" name="Shape 17"/>
          <p:cNvSpPr/>
          <p:nvPr/>
        </p:nvSpPr>
        <p:spPr>
          <a:xfrm>
            <a:off x="4389120" y="4023360"/>
            <a:ext cx="3520440" cy="2331720"/>
          </a:xfrm>
          <a:prstGeom prst="roundRect">
            <a:avLst>
              <a:gd name="adj" fmla="val 3922"/>
            </a:avLst>
          </a:prstGeom>
          <a:solidFill>
            <a:srgbClr val="F7FAFC"/>
          </a:solidFill>
          <a:ln/>
          <a:effectLst>
            <a:outerShdw sx="100000" sy="100000" kx="0" ky="0" algn="bl" rotWithShape="0" blurRad="101600" dist="38100" dir="5400000">
              <a:srgbClr val="000000">
                <a:alpha val="10000"/>
              </a:srgbClr>
            </a:outerShdw>
          </a:effectLst>
        </p:spPr>
      </p:sp>
      <p:sp>
        <p:nvSpPr>
          <p:cNvPr id="24" name="Shape 18"/>
          <p:cNvSpPr/>
          <p:nvPr/>
        </p:nvSpPr>
        <p:spPr>
          <a:xfrm>
            <a:off x="5737860" y="4279392"/>
            <a:ext cx="822960" cy="822960"/>
          </a:xfrm>
          <a:prstGeom prst="ellipse">
            <a:avLst/>
          </a:prstGeom>
          <a:solidFill>
            <a:srgbClr val="065A82"/>
          </a:solidFill>
          <a:ln/>
        </p:spPr>
      </p:sp>
      <p:pic>
        <p:nvPicPr>
          <p:cNvPr id="25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844845" y="4386377"/>
            <a:ext cx="608990" cy="608990"/>
          </a:xfrm>
          <a:prstGeom prst="rect">
            <a:avLst/>
          </a:prstGeom>
        </p:spPr>
      </p:pic>
      <p:sp>
        <p:nvSpPr>
          <p:cNvPr id="26" name="Text 19"/>
          <p:cNvSpPr/>
          <p:nvPr/>
        </p:nvSpPr>
        <p:spPr>
          <a:xfrm>
            <a:off x="4572000" y="5212080"/>
            <a:ext cx="3154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Agricultura de Precisão</a:t>
            </a:r>
            <a:endParaRPr lang="en-US" sz="1500" dirty="0"/>
          </a:p>
        </p:txBody>
      </p:sp>
      <p:sp>
        <p:nvSpPr>
          <p:cNvPr id="27" name="Text 20"/>
          <p:cNvSpPr/>
          <p:nvPr/>
        </p:nvSpPr>
        <p:spPr>
          <a:xfrm>
            <a:off x="4617720" y="5596128"/>
            <a:ext cx="3063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Drones identificam pragas e otimizam insumos agrícolas.</a:t>
            </a:r>
            <a:endParaRPr lang="en-US" sz="11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7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11480"/>
            <a:ext cx="10881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Proposta Prática: Classificador CNN do Zero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640080" y="960120"/>
            <a:ext cx="10515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Dataset CIFAR-10 — 60.000 imagens coloridas (32x32) em 10 classes.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640080" y="1554480"/>
            <a:ext cx="4572000" cy="420624"/>
          </a:xfrm>
          <a:prstGeom prst="roundRect">
            <a:avLst>
              <a:gd name="adj" fmla="val 13043"/>
            </a:avLst>
          </a:prstGeom>
          <a:solidFill>
            <a:srgbClr val="21295C"/>
          </a:solidFill>
          <a:ln/>
        </p:spPr>
      </p:sp>
      <p:sp>
        <p:nvSpPr>
          <p:cNvPr id="5" name="Text 3"/>
          <p:cNvSpPr/>
          <p:nvPr/>
        </p:nvSpPr>
        <p:spPr>
          <a:xfrm>
            <a:off x="777240" y="1554480"/>
            <a:ext cx="42976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Entrada 32×32×3</a:t>
            </a:r>
            <a:endParaRPr lang="en-US" sz="1250" dirty="0"/>
          </a:p>
        </p:txBody>
      </p:sp>
      <p:sp>
        <p:nvSpPr>
          <p:cNvPr id="6" name="Text 4"/>
          <p:cNvSpPr/>
          <p:nvPr/>
        </p:nvSpPr>
        <p:spPr>
          <a:xfrm>
            <a:off x="2788920" y="1956816"/>
            <a:ext cx="274320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▼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640080" y="2057400"/>
            <a:ext cx="4572000" cy="420624"/>
          </a:xfrm>
          <a:prstGeom prst="roundRect">
            <a:avLst>
              <a:gd name="adj" fmla="val 13043"/>
            </a:avLst>
          </a:prstGeom>
          <a:solidFill>
            <a:srgbClr val="065A82"/>
          </a:solidFill>
          <a:ln/>
        </p:spPr>
      </p:sp>
      <p:sp>
        <p:nvSpPr>
          <p:cNvPr id="8" name="Text 6"/>
          <p:cNvSpPr/>
          <p:nvPr/>
        </p:nvSpPr>
        <p:spPr>
          <a:xfrm>
            <a:off x="777240" y="2057400"/>
            <a:ext cx="42976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Conv2D 32 filtros (3×3) + ReLU</a:t>
            </a:r>
            <a:endParaRPr lang="en-US" sz="1250" dirty="0"/>
          </a:p>
        </p:txBody>
      </p:sp>
      <p:sp>
        <p:nvSpPr>
          <p:cNvPr id="9" name="Text 7"/>
          <p:cNvSpPr/>
          <p:nvPr/>
        </p:nvSpPr>
        <p:spPr>
          <a:xfrm>
            <a:off x="2788920" y="2459736"/>
            <a:ext cx="274320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▼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640080" y="2560320"/>
            <a:ext cx="4572000" cy="420624"/>
          </a:xfrm>
          <a:prstGeom prst="roundRect">
            <a:avLst>
              <a:gd name="adj" fmla="val 13043"/>
            </a:avLst>
          </a:prstGeom>
          <a:solidFill>
            <a:srgbClr val="1C7293"/>
          </a:solidFill>
          <a:ln/>
        </p:spPr>
      </p:sp>
      <p:sp>
        <p:nvSpPr>
          <p:cNvPr id="11" name="Text 9"/>
          <p:cNvSpPr/>
          <p:nvPr/>
        </p:nvSpPr>
        <p:spPr>
          <a:xfrm>
            <a:off x="777240" y="2560320"/>
            <a:ext cx="42976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MaxPooling2D (2×2)</a:t>
            </a:r>
            <a:endParaRPr lang="en-US" sz="1250" dirty="0"/>
          </a:p>
        </p:txBody>
      </p:sp>
      <p:sp>
        <p:nvSpPr>
          <p:cNvPr id="12" name="Text 10"/>
          <p:cNvSpPr/>
          <p:nvPr/>
        </p:nvSpPr>
        <p:spPr>
          <a:xfrm>
            <a:off x="2788920" y="2962656"/>
            <a:ext cx="274320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▼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640080" y="3063240"/>
            <a:ext cx="4572000" cy="420624"/>
          </a:xfrm>
          <a:prstGeom prst="roundRect">
            <a:avLst>
              <a:gd name="adj" fmla="val 13043"/>
            </a:avLst>
          </a:prstGeom>
          <a:solidFill>
            <a:srgbClr val="065A82"/>
          </a:solidFill>
          <a:ln/>
        </p:spPr>
      </p:sp>
      <p:sp>
        <p:nvSpPr>
          <p:cNvPr id="14" name="Text 12"/>
          <p:cNvSpPr/>
          <p:nvPr/>
        </p:nvSpPr>
        <p:spPr>
          <a:xfrm>
            <a:off x="777240" y="3063240"/>
            <a:ext cx="42976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Conv2D 64 filtros (3×3) + ReLU</a:t>
            </a:r>
            <a:endParaRPr lang="en-US" sz="1250" dirty="0"/>
          </a:p>
        </p:txBody>
      </p:sp>
      <p:sp>
        <p:nvSpPr>
          <p:cNvPr id="15" name="Text 13"/>
          <p:cNvSpPr/>
          <p:nvPr/>
        </p:nvSpPr>
        <p:spPr>
          <a:xfrm>
            <a:off x="2788920" y="3465576"/>
            <a:ext cx="274320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▼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640080" y="3566160"/>
            <a:ext cx="4572000" cy="420624"/>
          </a:xfrm>
          <a:prstGeom prst="roundRect">
            <a:avLst>
              <a:gd name="adj" fmla="val 13043"/>
            </a:avLst>
          </a:prstGeom>
          <a:solidFill>
            <a:srgbClr val="1C7293"/>
          </a:solidFill>
          <a:ln/>
        </p:spPr>
      </p:sp>
      <p:sp>
        <p:nvSpPr>
          <p:cNvPr id="17" name="Text 15"/>
          <p:cNvSpPr/>
          <p:nvPr/>
        </p:nvSpPr>
        <p:spPr>
          <a:xfrm>
            <a:off x="777240" y="3566160"/>
            <a:ext cx="42976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MaxPooling2D (2×2)</a:t>
            </a:r>
            <a:endParaRPr lang="en-US" sz="1250" dirty="0"/>
          </a:p>
        </p:txBody>
      </p:sp>
      <p:sp>
        <p:nvSpPr>
          <p:cNvPr id="18" name="Text 16"/>
          <p:cNvSpPr/>
          <p:nvPr/>
        </p:nvSpPr>
        <p:spPr>
          <a:xfrm>
            <a:off x="2788920" y="3968496"/>
            <a:ext cx="274320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▼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640080" y="4069080"/>
            <a:ext cx="4572000" cy="420624"/>
          </a:xfrm>
          <a:prstGeom prst="roundRect">
            <a:avLst>
              <a:gd name="adj" fmla="val 13043"/>
            </a:avLst>
          </a:prstGeom>
          <a:solidFill>
            <a:srgbClr val="065A82"/>
          </a:solidFill>
          <a:ln/>
        </p:spPr>
      </p:sp>
      <p:sp>
        <p:nvSpPr>
          <p:cNvPr id="20" name="Text 18"/>
          <p:cNvSpPr/>
          <p:nvPr/>
        </p:nvSpPr>
        <p:spPr>
          <a:xfrm>
            <a:off x="777240" y="4069080"/>
            <a:ext cx="42976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Conv2D 64 filtros (3×3) + ReLU</a:t>
            </a:r>
            <a:endParaRPr lang="en-US" sz="1250" dirty="0"/>
          </a:p>
        </p:txBody>
      </p:sp>
      <p:sp>
        <p:nvSpPr>
          <p:cNvPr id="21" name="Text 19"/>
          <p:cNvSpPr/>
          <p:nvPr/>
        </p:nvSpPr>
        <p:spPr>
          <a:xfrm>
            <a:off x="2788920" y="4471416"/>
            <a:ext cx="274320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▼</a:t>
            </a:r>
            <a:endParaRPr lang="en-US" sz="900" dirty="0"/>
          </a:p>
        </p:txBody>
      </p:sp>
      <p:sp>
        <p:nvSpPr>
          <p:cNvPr id="22" name="Shape 20"/>
          <p:cNvSpPr/>
          <p:nvPr/>
        </p:nvSpPr>
        <p:spPr>
          <a:xfrm>
            <a:off x="640080" y="4572000"/>
            <a:ext cx="4572000" cy="420624"/>
          </a:xfrm>
          <a:prstGeom prst="roundRect">
            <a:avLst>
              <a:gd name="adj" fmla="val 13043"/>
            </a:avLst>
          </a:prstGeom>
          <a:solidFill>
            <a:srgbClr val="1C7293"/>
          </a:solidFill>
          <a:ln/>
        </p:spPr>
      </p:sp>
      <p:sp>
        <p:nvSpPr>
          <p:cNvPr id="23" name="Text 21"/>
          <p:cNvSpPr/>
          <p:nvPr/>
        </p:nvSpPr>
        <p:spPr>
          <a:xfrm>
            <a:off x="777240" y="4572000"/>
            <a:ext cx="42976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Flatten</a:t>
            </a:r>
            <a:endParaRPr lang="en-US" sz="1250" dirty="0"/>
          </a:p>
        </p:txBody>
      </p:sp>
      <p:sp>
        <p:nvSpPr>
          <p:cNvPr id="24" name="Text 22"/>
          <p:cNvSpPr/>
          <p:nvPr/>
        </p:nvSpPr>
        <p:spPr>
          <a:xfrm>
            <a:off x="2788920" y="4974336"/>
            <a:ext cx="274320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▼</a:t>
            </a:r>
            <a:endParaRPr lang="en-US" sz="900" dirty="0"/>
          </a:p>
        </p:txBody>
      </p:sp>
      <p:sp>
        <p:nvSpPr>
          <p:cNvPr id="25" name="Shape 23"/>
          <p:cNvSpPr/>
          <p:nvPr/>
        </p:nvSpPr>
        <p:spPr>
          <a:xfrm>
            <a:off x="640080" y="5074920"/>
            <a:ext cx="4572000" cy="420624"/>
          </a:xfrm>
          <a:prstGeom prst="roundRect">
            <a:avLst>
              <a:gd name="adj" fmla="val 13043"/>
            </a:avLst>
          </a:prstGeom>
          <a:solidFill>
            <a:srgbClr val="065A82"/>
          </a:solidFill>
          <a:ln/>
        </p:spPr>
      </p:sp>
      <p:sp>
        <p:nvSpPr>
          <p:cNvPr id="26" name="Text 24"/>
          <p:cNvSpPr/>
          <p:nvPr/>
        </p:nvSpPr>
        <p:spPr>
          <a:xfrm>
            <a:off x="777240" y="5074920"/>
            <a:ext cx="42976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Dense 64 + ReLU · Dropout 0.5</a:t>
            </a:r>
            <a:endParaRPr lang="en-US" sz="1250" dirty="0"/>
          </a:p>
        </p:txBody>
      </p:sp>
      <p:sp>
        <p:nvSpPr>
          <p:cNvPr id="27" name="Text 25"/>
          <p:cNvSpPr/>
          <p:nvPr/>
        </p:nvSpPr>
        <p:spPr>
          <a:xfrm>
            <a:off x="2788920" y="5477256"/>
            <a:ext cx="274320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▼</a:t>
            </a:r>
            <a:endParaRPr lang="en-US" sz="900" dirty="0"/>
          </a:p>
        </p:txBody>
      </p:sp>
      <p:sp>
        <p:nvSpPr>
          <p:cNvPr id="28" name="Shape 26"/>
          <p:cNvSpPr/>
          <p:nvPr/>
        </p:nvSpPr>
        <p:spPr>
          <a:xfrm>
            <a:off x="640080" y="5577840"/>
            <a:ext cx="4572000" cy="420624"/>
          </a:xfrm>
          <a:prstGeom prst="roundRect">
            <a:avLst>
              <a:gd name="adj" fmla="val 13043"/>
            </a:avLst>
          </a:prstGeom>
          <a:solidFill>
            <a:srgbClr val="21295C"/>
          </a:solidFill>
          <a:ln/>
        </p:spPr>
      </p:sp>
      <p:sp>
        <p:nvSpPr>
          <p:cNvPr id="29" name="Text 27"/>
          <p:cNvSpPr/>
          <p:nvPr/>
        </p:nvSpPr>
        <p:spPr>
          <a:xfrm>
            <a:off x="777240" y="5577840"/>
            <a:ext cx="42976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Dense 10 + Softmax</a:t>
            </a:r>
            <a:endParaRPr lang="en-US" sz="1250" dirty="0"/>
          </a:p>
        </p:txBody>
      </p:sp>
      <p:sp>
        <p:nvSpPr>
          <p:cNvPr id="30" name="Shape 28"/>
          <p:cNvSpPr/>
          <p:nvPr/>
        </p:nvSpPr>
        <p:spPr>
          <a:xfrm>
            <a:off x="5577840" y="1554480"/>
            <a:ext cx="5943600" cy="2286000"/>
          </a:xfrm>
          <a:prstGeom prst="roundRect">
            <a:avLst>
              <a:gd name="adj" fmla="val 4000"/>
            </a:avLst>
          </a:prstGeom>
          <a:solidFill>
            <a:srgbClr val="21295C"/>
          </a:solidFill>
          <a:ln/>
          <a:effectLst>
            <a:outerShdw sx="100000" sy="100000" kx="0" ky="0" algn="bl" rotWithShape="0" blurRad="101600" dist="38100" dir="5400000">
              <a:srgbClr val="000000">
                <a:alpha val="15000"/>
              </a:srgbClr>
            </a:outerShdw>
          </a:effectLst>
        </p:spPr>
      </p:sp>
      <p:sp>
        <p:nvSpPr>
          <p:cNvPr id="31" name="Shape 29"/>
          <p:cNvSpPr/>
          <p:nvPr/>
        </p:nvSpPr>
        <p:spPr>
          <a:xfrm>
            <a:off x="5852160" y="1783080"/>
            <a:ext cx="640080" cy="640080"/>
          </a:xfrm>
          <a:prstGeom prst="ellipse">
            <a:avLst/>
          </a:prstGeom>
          <a:solidFill>
            <a:srgbClr val="065A82"/>
          </a:solidFill>
          <a:ln/>
        </p:spPr>
      </p:sp>
      <p:pic>
        <p:nvPicPr>
          <p:cNvPr id="3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935370" y="1866290"/>
            <a:ext cx="473659" cy="473659"/>
          </a:xfrm>
          <a:prstGeom prst="rect">
            <a:avLst/>
          </a:prstGeom>
        </p:spPr>
      </p:pic>
      <p:sp>
        <p:nvSpPr>
          <p:cNvPr id="33" name="Text 30"/>
          <p:cNvSpPr/>
          <p:nvPr/>
        </p:nvSpPr>
        <p:spPr>
          <a:xfrm>
            <a:off x="6675120" y="182880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Implementação</a:t>
            </a:r>
            <a:endParaRPr lang="en-US" sz="1600" dirty="0"/>
          </a:p>
        </p:txBody>
      </p:sp>
      <p:sp>
        <p:nvSpPr>
          <p:cNvPr id="34" name="Text 31"/>
          <p:cNvSpPr/>
          <p:nvPr/>
        </p:nvSpPr>
        <p:spPr>
          <a:xfrm>
            <a:off x="5852160" y="2286000"/>
            <a:ext cx="54864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+ TensorFlow/Keras, notebook Google Colab reproduzível, com treino, avaliação e matriz de confusão.</a:t>
            </a:r>
            <a:endParaRPr lang="en-US" sz="1300" dirty="0"/>
          </a:p>
        </p:txBody>
      </p:sp>
      <p:sp>
        <p:nvSpPr>
          <p:cNvPr id="35" name="Shape 32"/>
          <p:cNvSpPr/>
          <p:nvPr/>
        </p:nvSpPr>
        <p:spPr>
          <a:xfrm>
            <a:off x="5577840" y="4069080"/>
            <a:ext cx="5943600" cy="2148840"/>
          </a:xfrm>
          <a:prstGeom prst="roundRect">
            <a:avLst>
              <a:gd name="adj" fmla="val 4255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000000">
                <a:alpha val="10000"/>
              </a:srgbClr>
            </a:outerShdw>
          </a:effectLst>
        </p:spPr>
      </p:sp>
      <p:sp>
        <p:nvSpPr>
          <p:cNvPr id="36" name="Shape 33"/>
          <p:cNvSpPr/>
          <p:nvPr/>
        </p:nvSpPr>
        <p:spPr>
          <a:xfrm>
            <a:off x="5852160" y="4297680"/>
            <a:ext cx="640080" cy="640080"/>
          </a:xfrm>
          <a:prstGeom prst="ellipse">
            <a:avLst/>
          </a:prstGeom>
          <a:solidFill>
            <a:srgbClr val="1C7293"/>
          </a:solidFill>
          <a:ln/>
        </p:spPr>
      </p:sp>
      <p:pic>
        <p:nvPicPr>
          <p:cNvPr id="37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35370" y="4380890"/>
            <a:ext cx="473659" cy="473659"/>
          </a:xfrm>
          <a:prstGeom prst="rect">
            <a:avLst/>
          </a:prstGeom>
        </p:spPr>
      </p:pic>
      <p:sp>
        <p:nvSpPr>
          <p:cNvPr id="38" name="Text 34"/>
          <p:cNvSpPr/>
          <p:nvPr/>
        </p:nvSpPr>
        <p:spPr>
          <a:xfrm>
            <a:off x="6675120" y="434340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Entrega</a:t>
            </a:r>
            <a:endParaRPr lang="en-US" sz="1600" dirty="0"/>
          </a:p>
        </p:txBody>
      </p:sp>
      <p:sp>
        <p:nvSpPr>
          <p:cNvPr id="39" name="Text 35"/>
          <p:cNvSpPr/>
          <p:nvPr/>
        </p:nvSpPr>
        <p:spPr>
          <a:xfrm>
            <a:off x="5852160" y="4800600"/>
            <a:ext cx="54864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Código-fonte, notebook de treinamento e instruções de execução publicados em repositório GitHub / Google Colab.</a:t>
            </a:r>
            <a:endParaRPr lang="en-US" sz="13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9144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Resultados Esperados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640080" y="1143000"/>
            <a:ext cx="10515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Avaliação do modelo no conjunto de teste do CIFAR-10, após aproximadamente 15 épocas de treinamento.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640080" y="1965960"/>
            <a:ext cx="3383280" cy="4114800"/>
          </a:xfrm>
          <a:prstGeom prst="roundRect">
            <a:avLst>
              <a:gd name="adj" fmla="val 3243"/>
            </a:avLst>
          </a:prstGeom>
          <a:solidFill>
            <a:srgbClr val="21295C"/>
          </a:solidFill>
          <a:ln/>
          <a:effectLst>
            <a:outerShdw sx="100000" sy="100000" kx="0" ky="0" algn="bl" rotWithShape="0" blurRad="127000" dist="50800" dir="5400000">
              <a:srgbClr val="000000">
                <a:alpha val="15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640080" y="2651760"/>
            <a:ext cx="33832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70–80%</a:t>
            </a:r>
            <a:endParaRPr lang="en-US" sz="5200" dirty="0"/>
          </a:p>
        </p:txBody>
      </p:sp>
      <p:sp>
        <p:nvSpPr>
          <p:cNvPr id="6" name="Text 4"/>
          <p:cNvSpPr/>
          <p:nvPr/>
        </p:nvSpPr>
        <p:spPr>
          <a:xfrm>
            <a:off x="822960" y="3657600"/>
            <a:ext cx="30175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acurácia estimada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conjunto de teste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1188720" y="4572000"/>
            <a:ext cx="2286000" cy="0"/>
          </a:xfrm>
          <a:prstGeom prst="line">
            <a:avLst/>
          </a:prstGeom>
          <a:noFill/>
          <a:ln w="19050">
            <a:solidFill>
              <a:srgbClr val="1C7293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68680" y="4800600"/>
            <a:ext cx="29260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i="1" dirty="0">
                <a:solidFill>
                  <a:srgbClr val="9FB8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Arquitetura simples, sem transfer learning ou data augmentation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4343400" y="1965960"/>
            <a:ext cx="7178040" cy="1234440"/>
          </a:xfrm>
          <a:prstGeom prst="roundRect">
            <a:avLst>
              <a:gd name="adj" fmla="val 5926"/>
            </a:avLst>
          </a:prstGeom>
          <a:solidFill>
            <a:srgbClr val="F7FAFC"/>
          </a:solidFill>
          <a:ln/>
        </p:spPr>
      </p:sp>
      <p:sp>
        <p:nvSpPr>
          <p:cNvPr id="10" name="Text 8"/>
          <p:cNvSpPr/>
          <p:nvPr/>
        </p:nvSpPr>
        <p:spPr>
          <a:xfrm>
            <a:off x="4617720" y="2093976"/>
            <a:ext cx="6583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Ponto forte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4617720" y="2441448"/>
            <a:ext cx="65836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Demonstra na prática os conceitos de convolução, pooling e classificação estudados na teoria.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4343400" y="3383280"/>
            <a:ext cx="7178040" cy="1234440"/>
          </a:xfrm>
          <a:prstGeom prst="roundRect">
            <a:avLst>
              <a:gd name="adj" fmla="val 5926"/>
            </a:avLst>
          </a:prstGeom>
          <a:solidFill>
            <a:srgbClr val="F7FAFC"/>
          </a:solidFill>
          <a:ln/>
        </p:spPr>
      </p:sp>
      <p:sp>
        <p:nvSpPr>
          <p:cNvPr id="13" name="Text 11"/>
          <p:cNvSpPr/>
          <p:nvPr/>
        </p:nvSpPr>
        <p:spPr>
          <a:xfrm>
            <a:off x="4617720" y="3511296"/>
            <a:ext cx="6583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Limitação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4617720" y="3858768"/>
            <a:ext cx="65836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 data augmentation, batch normalization ou arquiteturas pré-treinadas — acurácia limitada.</a:t>
            </a:r>
            <a:endParaRPr lang="en-US" sz="1250" dirty="0"/>
          </a:p>
        </p:txBody>
      </p:sp>
      <p:sp>
        <p:nvSpPr>
          <p:cNvPr id="15" name="Shape 13"/>
          <p:cNvSpPr/>
          <p:nvPr/>
        </p:nvSpPr>
        <p:spPr>
          <a:xfrm>
            <a:off x="4343400" y="4800600"/>
            <a:ext cx="7178040" cy="1234440"/>
          </a:xfrm>
          <a:prstGeom prst="roundRect">
            <a:avLst>
              <a:gd name="adj" fmla="val 5926"/>
            </a:avLst>
          </a:prstGeom>
          <a:solidFill>
            <a:srgbClr val="F7FAFC"/>
          </a:solidFill>
          <a:ln/>
        </p:spPr>
      </p:sp>
      <p:sp>
        <p:nvSpPr>
          <p:cNvPr id="16" name="Text 14"/>
          <p:cNvSpPr/>
          <p:nvPr/>
        </p:nvSpPr>
        <p:spPr>
          <a:xfrm>
            <a:off x="4617720" y="4928616"/>
            <a:ext cx="6583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Próximo passo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4617720" y="5276088"/>
            <a:ext cx="65836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Transfer learning com ResNet/MobileNet pode elevar a acurácia para 90%+.</a:t>
            </a:r>
            <a:endParaRPr lang="en-US" sz="12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21295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371600" y="4114800"/>
            <a:ext cx="4572000" cy="4572000"/>
          </a:xfrm>
          <a:prstGeom prst="ellipse">
            <a:avLst/>
          </a:prstGeom>
          <a:solidFill>
            <a:srgbClr val="065A82">
              <a:alpha val="45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9875520" y="-1645920"/>
            <a:ext cx="3840480" cy="3840480"/>
          </a:xfrm>
          <a:prstGeom prst="ellipse">
            <a:avLst/>
          </a:prstGeom>
          <a:solidFill>
            <a:srgbClr val="1C7293">
              <a:alpha val="45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822960" y="822960"/>
            <a:ext cx="7315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Conclusão</a:t>
            </a:r>
            <a:endParaRPr lang="en-US" sz="3400" dirty="0"/>
          </a:p>
        </p:txBody>
      </p:sp>
      <p:sp>
        <p:nvSpPr>
          <p:cNvPr id="5" name="Text 3"/>
          <p:cNvSpPr/>
          <p:nvPr/>
        </p:nvSpPr>
        <p:spPr>
          <a:xfrm>
            <a:off x="822960" y="1737360"/>
            <a:ext cx="96012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700" dirty="0">
                <a:solidFill>
                  <a:srgbClr val="E7F1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Visão Computacional evoluiu do processamento clássico de sinais para arquiteturas de aprendizado profundo capazes de aprender representações diretamente dos dados — ampliando aplicações em saúde, mobilidade, indústria e agricultura.</a:t>
            </a:r>
            <a:endParaRPr lang="en-US" sz="1700" dirty="0"/>
          </a:p>
        </p:txBody>
      </p:sp>
      <p:sp>
        <p:nvSpPr>
          <p:cNvPr id="6" name="Text 4"/>
          <p:cNvSpPr/>
          <p:nvPr/>
        </p:nvSpPr>
        <p:spPr>
          <a:xfrm>
            <a:off x="822960" y="3108960"/>
            <a:ext cx="96012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700" dirty="0">
                <a:solidFill>
                  <a:srgbClr val="E7F1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 Engenharia de Software, isso exige domínio de algoritmos, frameworks e boas práticas de integração e escalabilidade de modelos em produção.</a:t>
            </a:r>
            <a:endParaRPr lang="en-US" sz="1700" dirty="0"/>
          </a:p>
        </p:txBody>
      </p:sp>
      <p:sp>
        <p:nvSpPr>
          <p:cNvPr id="7" name="Shape 5"/>
          <p:cNvSpPr/>
          <p:nvPr/>
        </p:nvSpPr>
        <p:spPr>
          <a:xfrm>
            <a:off x="822960" y="4343400"/>
            <a:ext cx="9601200" cy="0"/>
          </a:xfrm>
          <a:prstGeom prst="line">
            <a:avLst/>
          </a:prstGeom>
          <a:noFill/>
          <a:ln w="12700">
            <a:solidFill>
              <a:srgbClr val="1C7293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22960" y="457200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9FB8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Referências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822960" y="4937760"/>
            <a:ext cx="98755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Goodfellow, Bengio &amp; Courville — Deep Learning (MIT Press, 2016)  ·  Szeliski — Computer Vision (Springer, 2022)  ·  Documentação TensorFlow, OpenCV e PyTorch  ·  Redmon et al. — YOLO (CVPR, 2016)</a:t>
            </a:r>
            <a:endParaRPr lang="en-US" sz="1150" dirty="0"/>
          </a:p>
        </p:txBody>
      </p:sp>
      <p:sp>
        <p:nvSpPr>
          <p:cNvPr id="10" name="Text 8"/>
          <p:cNvSpPr/>
          <p:nvPr/>
        </p:nvSpPr>
        <p:spPr>
          <a:xfrm>
            <a:off x="822960" y="5943600"/>
            <a:ext cx="5486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Obrigado!</a:t>
            </a:r>
            <a:endParaRPr lang="en-US" sz="2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Visão Computacional</dc:title>
  <dc:subject>PptxGenJS Presentation</dc:subject>
  <dc:creator>Equipe - Visão Computacional</dc:creator>
  <cp:lastModifiedBy>Equipe - Visão Computacional</cp:lastModifiedBy>
  <cp:revision>1</cp:revision>
  <dcterms:created xsi:type="dcterms:W3CDTF">2026-07-02T00:33:49Z</dcterms:created>
  <dcterms:modified xsi:type="dcterms:W3CDTF">2026-07-02T00:33:49Z</dcterms:modified>
</cp:coreProperties>
</file>